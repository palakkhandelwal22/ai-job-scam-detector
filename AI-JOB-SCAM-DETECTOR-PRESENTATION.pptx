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2"/>
  </p:notesMasterIdLst>
  <p:sldIdLst>
    <p:sldId id="256" r:id="rId3"/>
    <p:sldId id="16140622" r:id="rId4"/>
    <p:sldId id="262" r:id="rId5"/>
    <p:sldId id="263" r:id="rId6"/>
    <p:sldId id="265" r:id="rId7"/>
    <p:sldId id="266" r:id="rId8"/>
    <p:sldId id="267" r:id="rId9"/>
    <p:sldId id="16140632" r:id="rId10"/>
    <p:sldId id="16140627" r:id="rId11"/>
    <p:sldId id="16140630" r:id="rId12"/>
    <p:sldId id="16140628" r:id="rId13"/>
    <p:sldId id="16140629" r:id="rId14"/>
    <p:sldId id="16140633" r:id="rId15"/>
    <p:sldId id="16140634" r:id="rId16"/>
    <p:sldId id="16140635" r:id="rId17"/>
    <p:sldId id="16140636" r:id="rId18"/>
    <p:sldId id="16140646" r:id="rId19"/>
    <p:sldId id="16140647" r:id="rId20"/>
    <p:sldId id="16140648" r:id="rId21"/>
    <p:sldId id="16140649" r:id="rId22"/>
    <p:sldId id="16140642" r:id="rId23"/>
    <p:sldId id="16140643" r:id="rId24"/>
    <p:sldId id="16140644" r:id="rId25"/>
    <p:sldId id="16140645" r:id="rId26"/>
    <p:sldId id="268" r:id="rId27"/>
    <p:sldId id="16140623" r:id="rId28"/>
    <p:sldId id="269" r:id="rId29"/>
    <p:sldId id="16140626" r:id="rId30"/>
    <p:sldId id="25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customXml" Target="../customXml/item3.xml"/><Relationship Id="rId37" Type="http://schemas.openxmlformats.org/officeDocument/2006/relationships/customXml" Target="../customXml/item2.xml"/><Relationship Id="rId36" Type="http://schemas.openxmlformats.org/officeDocument/2006/relationships/customXml" Target="../customXml/item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notesMaster" Target="notesMasters/notesMaster1.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8" name="Date Placeholder 7"/>
          <p:cNvSpPr>
            <a:spLocks noGrp="1"/>
          </p:cNvSpPr>
          <p:nvPr>
            <p:ph type="dt" sz="half" idx="10"/>
          </p:nvPr>
        </p:nvSpPr>
        <p:spPr/>
        <p:txBody>
          <a:bodyPr/>
          <a:lstStyle/>
          <a:p>
            <a:fld id="{ED291B17-9318-49DB-B28B-6E5994AE9581}"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endParaRPr lang="en-US"/>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Date Placeholder 7"/>
          <p:cNvSpPr>
            <a:spLocks noGrp="1"/>
          </p:cNvSpPr>
          <p:nvPr>
            <p:ph type="dt" sz="half" idx="10"/>
          </p:nvPr>
        </p:nvSpPr>
        <p:spPr/>
        <p:txBody>
          <a:bodyPr/>
          <a:lstStyle/>
          <a:p>
            <a:fld id="{78DD82B9-B8EE-4375-B6FF-88FA6ABB15D9}" type="datetime1">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2497495-0637-405E-AE64-5CC7506D51F5}"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endParaRPr lang="en-US"/>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BFFD690-9426-415D-8B65-26881E07B2D4}"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a:t>Click to edit Master text styles</a:t>
            </a:r>
            <a:endParaRPr lang="en-US"/>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04C4989A-474C-40DE-95B9-011C28B71673}" type="datetime1">
              <a:rPr lang="en-US" smtClean="0"/>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DB4ED54-5B5E-4A04-93D3-5772E3CE3818}" type="datetime1">
              <a:rPr lang="en-US" smtClean="0"/>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fld>
            <a:endParaRPr lang="en-US"/>
          </a:p>
        </p:txBody>
      </p:sp>
      <p:sp>
        <p:nvSpPr>
          <p:cNvPr id="10" name="Footer Placeholder 9"/>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E18DB4A-8810-4A10-AD5C-D5E2C667F5B3}"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CED4963-E985-44C4-B8C4-FDD613B7C2F8}" type="datetime1">
              <a:rPr lang="en-US" smtClean="0"/>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Rectangle 7"/>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p:cNvSpPr>
            <a:spLocks noGrp="1"/>
          </p:cNvSpPr>
          <p:nvPr>
            <p:ph type="dt" sz="half" idx="10"/>
          </p:nvPr>
        </p:nvSpPr>
        <p:spPr/>
        <p:txBody>
          <a:bodyPr/>
          <a:lstStyle/>
          <a:p>
            <a:fld id="{ED291B17-9318-49DB-B28B-6E5994AE9581}" type="datetime1">
              <a:rPr lang="en-US" smtClean="0"/>
            </a:fld>
            <a:endParaRPr lang="en-US"/>
          </a:p>
        </p:txBody>
      </p:sp>
      <p:sp>
        <p:nvSpPr>
          <p:cNvPr id="12" name="Footer Placeholder 11"/>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D291B17-9318-49DB-B28B-6E5994AE9581}" type="datetime1">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p:cNvPicPr>
            <a:picLocks noChangeAspect="1"/>
          </p:cNvPicPr>
          <p:nvPr userDrawn="1"/>
        </p:nvPicPr>
        <p:blipFill>
          <a:blip r:embed="rId13"/>
          <a:stretch>
            <a:fillRect/>
          </a:stretch>
        </p:blipFill>
        <p:spPr>
          <a:xfrm>
            <a:off x="10485003" y="6437910"/>
            <a:ext cx="1125805" cy="3651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jpeg"/><Relationship Id="rId1" Type="http://schemas.openxmlformats.org/officeDocument/2006/relationships/image" Target="../media/image11.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jpeg"/><Relationship Id="rId1" Type="http://schemas.openxmlformats.org/officeDocument/2006/relationships/image" Target="../media/image13.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jpeg"/><Relationship Id="rId1"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jpeg"/><Relationship Id="rId1" Type="http://schemas.openxmlformats.org/officeDocument/2006/relationships/image" Target="../media/image17.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3.jpeg"/><Relationship Id="rId1" Type="http://schemas.openxmlformats.org/officeDocument/2006/relationships/image" Target="../media/image22.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9108" y="2068015"/>
            <a:ext cx="9144000" cy="977778"/>
          </a:xfrm>
        </p:spPr>
        <p:txBody>
          <a:bodyPr>
            <a:normAutofit fontScale="90000"/>
          </a:bodyPr>
          <a:lstStyle/>
          <a:p>
            <a:pPr algn="ctr"/>
            <a:r>
              <a:rPr lang="en-US" altLang="en-US" b="1" dirty="0">
                <a:solidFill>
                  <a:schemeClr val="accent1"/>
                </a:solidFill>
                <a:latin typeface="Arial" panose="020B0604020202020204" pitchFamily="34" charset="0"/>
                <a:cs typeface="Arial" panose="020B0604020202020204" pitchFamily="34" charset="0"/>
              </a:rPr>
              <a:t>AI-Powered Detection of Fraudulent Job Postings Using Machine Learning and Gemini AI</a:t>
            </a:r>
            <a:endParaRPr lang="en-US" alt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panose="020B0604020202020204"/>
                <a:cs typeface="Arial" panose="020B0604020202020204"/>
              </a:rPr>
              <a:t>CAPSTONE PROJECT</a:t>
            </a:r>
            <a:endParaRPr lang="en-US" sz="3200" b="1">
              <a:solidFill>
                <a:schemeClr val="accent1">
                  <a:lumMod val="75000"/>
                </a:schemeClr>
              </a:solidFill>
              <a:latin typeface="Arial" panose="020B0604020202020204"/>
              <a:cs typeface="Arial" panose="020B0604020202020204"/>
            </a:endParaRPr>
          </a:p>
        </p:txBody>
      </p:sp>
      <p:sp>
        <p:nvSpPr>
          <p:cNvPr id="4" name="TextBox 3"/>
          <p:cNvSpPr txBox="1"/>
          <p:nvPr/>
        </p:nvSpPr>
        <p:spPr>
          <a:xfrm>
            <a:off x="2043321" y="3344213"/>
            <a:ext cx="7980183" cy="2861310"/>
          </a:xfrm>
          <a:prstGeom prst="rect">
            <a:avLst/>
          </a:prstGeom>
          <a:noFill/>
        </p:spPr>
        <p:txBody>
          <a:bodyPr wrap="square" lIns="91440" tIns="45720" rIns="91440" bIns="45720" rtlCol="0" anchor="t">
            <a:spAutoFit/>
          </a:bodyPr>
          <a:lstStyle/>
          <a:p>
            <a:pPr algn="l">
              <a:lnSpc>
                <a:spcPts val="3600"/>
              </a:lnSpc>
            </a:pPr>
            <a:r>
              <a:rPr lang="en-US" sz="2000">
                <a:solidFill>
                  <a:srgbClr val="1482AC"/>
                </a:solidFill>
                <a:latin typeface="Arial Bold" panose="020B0802020202020204"/>
                <a:ea typeface="Arial Bold" panose="020B0802020202020204"/>
                <a:cs typeface="Arial Bold" panose="020B0802020202020204"/>
                <a:sym typeface="Arial Bold" panose="020B0802020202020204"/>
              </a:rPr>
              <a:t>Presented By:</a:t>
            </a:r>
            <a:endParaRPr lang="en-US" sz="2000">
              <a:solidFill>
                <a:srgbClr val="1482AC"/>
              </a:solidFill>
              <a:latin typeface="Arial Bold" panose="020B0802020202020204"/>
              <a:ea typeface="Arial Bold" panose="020B0802020202020204"/>
              <a:cs typeface="Arial Bold" panose="020B0802020202020204"/>
              <a:sym typeface="Arial Bold" panose="020B0802020202020204"/>
            </a:endParaRPr>
          </a:p>
          <a:p>
            <a:pPr algn="l">
              <a:lnSpc>
                <a:spcPts val="3600"/>
              </a:lnSpc>
            </a:pPr>
            <a:r>
              <a:rPr lang="en-US" sz="2000">
                <a:solidFill>
                  <a:srgbClr val="1482AC"/>
                </a:solidFill>
                <a:latin typeface="Arial Bold" panose="020B0802020202020204"/>
                <a:ea typeface="Arial Bold" panose="020B0802020202020204"/>
                <a:cs typeface="Arial Bold" panose="020B0802020202020204"/>
                <a:sym typeface="Arial Bold" panose="020B0802020202020204"/>
              </a:rPr>
              <a:t>Student Name : Palak Khandelwal</a:t>
            </a:r>
            <a:endParaRPr lang="en-US" sz="2000">
              <a:solidFill>
                <a:srgbClr val="1482AC"/>
              </a:solidFill>
              <a:latin typeface="Arial Bold" panose="020B0802020202020204"/>
              <a:ea typeface="Arial Bold" panose="020B0802020202020204"/>
              <a:cs typeface="Arial Bold" panose="020B0802020202020204"/>
              <a:sym typeface="Arial Bold" panose="020B0802020202020204"/>
            </a:endParaRPr>
          </a:p>
          <a:p>
            <a:pPr algn="l">
              <a:lnSpc>
                <a:spcPts val="3600"/>
              </a:lnSpc>
            </a:pPr>
            <a:r>
              <a:rPr lang="en-US" sz="2000">
                <a:solidFill>
                  <a:srgbClr val="1482AC"/>
                </a:solidFill>
                <a:latin typeface="Arial Bold" panose="020B0802020202020204"/>
                <a:ea typeface="Arial Bold" panose="020B0802020202020204"/>
                <a:cs typeface="Arial Bold" panose="020B0802020202020204"/>
                <a:sym typeface="Arial Bold" panose="020B0802020202020204"/>
              </a:rPr>
              <a:t>College Name : KIIT UNIVERSITY </a:t>
            </a:r>
            <a:endParaRPr lang="en-US" sz="2000">
              <a:solidFill>
                <a:srgbClr val="1482AC"/>
              </a:solidFill>
              <a:latin typeface="Arial Bold" panose="020B0802020202020204"/>
              <a:ea typeface="Arial Bold" panose="020B0802020202020204"/>
              <a:cs typeface="Arial Bold" panose="020B0802020202020204"/>
              <a:sym typeface="Arial Bold" panose="020B0802020202020204"/>
            </a:endParaRPr>
          </a:p>
          <a:p>
            <a:pPr algn="l">
              <a:lnSpc>
                <a:spcPts val="3600"/>
              </a:lnSpc>
            </a:pPr>
            <a:r>
              <a:rPr lang="en-US" sz="2000">
                <a:solidFill>
                  <a:srgbClr val="1482AC"/>
                </a:solidFill>
                <a:latin typeface="Arial Bold" panose="020B0802020202020204"/>
                <a:ea typeface="Arial Bold" panose="020B0802020202020204"/>
                <a:cs typeface="Arial Bold" panose="020B0802020202020204"/>
                <a:sym typeface="Arial Bold" panose="020B0802020202020204"/>
              </a:rPr>
              <a:t>Department : CSE</a:t>
            </a:r>
            <a:endParaRPr lang="en-US" sz="2000">
              <a:solidFill>
                <a:srgbClr val="1482AC"/>
              </a:solidFill>
              <a:latin typeface="Arial Bold" panose="020B0802020202020204"/>
              <a:ea typeface="Arial Bold" panose="020B0802020202020204"/>
              <a:cs typeface="Arial Bold" panose="020B0802020202020204"/>
              <a:sym typeface="Arial Bold" panose="020B0802020202020204"/>
            </a:endParaRPr>
          </a:p>
          <a:p>
            <a:pPr algn="l">
              <a:lnSpc>
                <a:spcPts val="3600"/>
              </a:lnSpc>
            </a:pPr>
            <a:r>
              <a:rPr lang="en-US" sz="2000">
                <a:solidFill>
                  <a:srgbClr val="1482AC"/>
                </a:solidFill>
                <a:latin typeface="Arial Bold" panose="020B0802020202020204"/>
                <a:ea typeface="Arial Bold" panose="020B0802020202020204"/>
                <a:cs typeface="Arial Bold" panose="020B0802020202020204"/>
                <a:sym typeface="Arial Bold" panose="020B0802020202020204"/>
              </a:rPr>
              <a:t>Email ID : khandelwalpalak661@gmail.com</a:t>
            </a:r>
            <a:endParaRPr lang="en-US" sz="2000">
              <a:solidFill>
                <a:srgbClr val="1482AC"/>
              </a:solidFill>
              <a:latin typeface="Arial Bold" panose="020B0802020202020204"/>
              <a:ea typeface="Arial Bold" panose="020B0802020202020204"/>
              <a:cs typeface="Arial Bold" panose="020B0802020202020204"/>
              <a:sym typeface="Arial Bold" panose="020B0802020202020204"/>
            </a:endParaRPr>
          </a:p>
          <a:p>
            <a:pPr algn="l">
              <a:lnSpc>
                <a:spcPts val="3600"/>
              </a:lnSpc>
            </a:pPr>
            <a:r>
              <a:rPr lang="en-US" sz="2000">
                <a:solidFill>
                  <a:srgbClr val="1482AC"/>
                </a:solidFill>
                <a:latin typeface="Arial Bold" panose="020B0802020202020204"/>
                <a:ea typeface="Arial Bold" panose="020B0802020202020204"/>
                <a:cs typeface="Arial Bold" panose="020B0802020202020204"/>
                <a:sym typeface="Arial Bold" panose="020B0802020202020204"/>
              </a:rPr>
              <a:t>AICTE Student ID : </a:t>
            </a:r>
            <a:r>
              <a:rPr lang="en-US" altLang="en-US" sz="2000">
                <a:solidFill>
                  <a:srgbClr val="1482AC"/>
                </a:solidFill>
                <a:latin typeface="Arial Bold" panose="020B0802020202020204"/>
                <a:ea typeface="Arial Bold" panose="020B0802020202020204"/>
                <a:cs typeface="Arial Bold" panose="020B0802020202020204"/>
                <a:sym typeface="Arial Bold" panose="020B0802020202020204"/>
              </a:rPr>
              <a:t>STU69e8ee1ba3b881776872987</a:t>
            </a:r>
            <a:endParaRPr lang="en-US" sz="2000" b="1" dirty="0">
              <a:solidFill>
                <a:schemeClr val="accent1">
                  <a:lumMod val="75000"/>
                </a:schemeClr>
              </a:solidFill>
              <a:latin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endParaRPr lang="en-US" b="1">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panose="020B0604020202020204"/>
                <a:ea typeface="+mn-lt"/>
                <a:cs typeface="Arial" panose="020B0604020202020204"/>
              </a:rPr>
              <a:t>  </a:t>
            </a:r>
            <a:endParaRPr lang="en-US" dirty="0">
              <a:latin typeface="Arial" panose="020B0604020202020204"/>
              <a:cs typeface="Arial" panose="020B0604020202020204"/>
            </a:endParaRPr>
          </a:p>
          <a:p>
            <a:r>
              <a:rPr lang="en-US" sz="2000" b="1" dirty="0">
                <a:latin typeface="Arial" panose="020B0604020202020204"/>
                <a:ea typeface="+mn-lt"/>
                <a:cs typeface="Arial" panose="020B0604020202020204"/>
              </a:rPr>
              <a:t>Problem Statement </a:t>
            </a:r>
            <a:endParaRPr lang="en-US" sz="2000" b="1" dirty="0">
              <a:latin typeface="Arial" panose="020B0604020202020204"/>
              <a:ea typeface="+mn-lt"/>
              <a:cs typeface="Arial" panose="020B0604020202020204"/>
            </a:endParaRPr>
          </a:p>
          <a:p>
            <a:r>
              <a:rPr lang="en-US" sz="2000" b="1" dirty="0">
                <a:latin typeface="Arial" panose="020B0604020202020204"/>
                <a:ea typeface="+mn-lt"/>
                <a:cs typeface="Arial" panose="020B0604020202020204"/>
              </a:rPr>
              <a:t>Proposed System/Solution</a:t>
            </a:r>
            <a:endParaRPr lang="en-US" dirty="0">
              <a:latin typeface="Arial" panose="020B0604020202020204"/>
              <a:cs typeface="Arial" panose="020B0604020202020204"/>
            </a:endParaRPr>
          </a:p>
          <a:p>
            <a:r>
              <a:rPr lang="en-US" sz="2000" b="1" dirty="0">
                <a:latin typeface="Arial" panose="020B0604020202020204"/>
                <a:ea typeface="+mn-lt"/>
                <a:cs typeface="Calibri" panose="020F0502020204030204"/>
              </a:rPr>
              <a:t>System </a:t>
            </a:r>
            <a:r>
              <a:rPr lang="en-US" sz="2000" b="1" dirty="0">
                <a:latin typeface="Arial" panose="020B0604020202020204"/>
                <a:ea typeface="+mn-lt"/>
                <a:cs typeface="+mn-lt"/>
              </a:rPr>
              <a:t>Development Approach </a:t>
            </a:r>
            <a:r>
              <a:rPr lang="en-US" sz="2000" dirty="0">
                <a:latin typeface="Arial" panose="020B0604020202020204"/>
                <a:ea typeface="+mn-lt"/>
                <a:cs typeface="+mn-lt"/>
              </a:rPr>
              <a:t> </a:t>
            </a:r>
            <a:endParaRPr lang="en-US" dirty="0">
              <a:latin typeface="Arial" panose="020B0604020202020204"/>
              <a:ea typeface="+mn-lt"/>
              <a:cs typeface="+mn-lt"/>
            </a:endParaRPr>
          </a:p>
          <a:p>
            <a:r>
              <a:rPr lang="en-US" sz="2000" b="1" dirty="0">
                <a:latin typeface="Arial" panose="020B0604020202020204"/>
                <a:ea typeface="+mn-lt"/>
                <a:cs typeface="+mn-lt"/>
              </a:rPr>
              <a:t>Algorithm &amp; Deployment  </a:t>
            </a:r>
            <a:endParaRPr lang="en-US" dirty="0">
              <a:latin typeface="Arial" panose="020B0604020202020204"/>
              <a:cs typeface="Calibri" panose="020F0502020204030204"/>
            </a:endParaRPr>
          </a:p>
          <a:p>
            <a:r>
              <a:rPr lang="en-US" sz="2000" b="1" dirty="0">
                <a:latin typeface="Arial" panose="020B0604020202020204"/>
                <a:ea typeface="+mn-lt"/>
                <a:cs typeface="Arial" panose="020B0604020202020204"/>
              </a:rPr>
              <a:t>Result</a:t>
            </a:r>
            <a:endParaRPr lang="en-US" sz="2000" b="1" dirty="0">
              <a:latin typeface="Arial" panose="020B0604020202020204"/>
              <a:ea typeface="+mn-lt"/>
              <a:cs typeface="Arial" panose="020B0604020202020204"/>
            </a:endParaRPr>
          </a:p>
          <a:p>
            <a:r>
              <a:rPr lang="en-US" sz="2000" b="1" dirty="0">
                <a:latin typeface="Arial" panose="020B0604020202020204"/>
                <a:ea typeface="+mn-lt"/>
                <a:cs typeface="Arial" panose="020B0604020202020204"/>
              </a:rPr>
              <a:t>Conclusion</a:t>
            </a:r>
            <a:endParaRPr lang="en-US" dirty="0">
              <a:latin typeface="Arial" panose="020B0604020202020204"/>
              <a:cs typeface="Arial" panose="020B0604020202020204"/>
            </a:endParaRPr>
          </a:p>
          <a:p>
            <a:r>
              <a:rPr lang="en-US" sz="2000" b="1" dirty="0">
                <a:latin typeface="Arial" panose="020B0604020202020204"/>
                <a:ea typeface="+mn-lt"/>
                <a:cs typeface="Arial" panose="020B0604020202020204"/>
              </a:rPr>
              <a:t>Future Scope</a:t>
            </a:r>
            <a:endParaRPr lang="en-US" sz="2000" b="1" dirty="0">
              <a:latin typeface="Arial" panose="020B0604020202020204"/>
              <a:ea typeface="+mn-lt"/>
              <a:cs typeface="Arial" panose="020B0604020202020204"/>
            </a:endParaRPr>
          </a:p>
          <a:p>
            <a:r>
              <a:rPr lang="en-US" sz="2000" b="1" dirty="0">
                <a:latin typeface="Arial" panose="020B0604020202020204"/>
                <a:ea typeface="+mn-lt"/>
                <a:cs typeface="Arial" panose="020B0604020202020204"/>
              </a:rPr>
              <a:t>References</a:t>
            </a:r>
            <a:endParaRPr lang="en-US" dirty="0">
              <a:latin typeface="Arial" panose="020B0604020202020204"/>
              <a:cs typeface="Arial" panose="020B0604020202020204"/>
            </a:endParaRPr>
          </a:p>
          <a:p>
            <a:endParaRPr lang="en-US" dirty="0">
              <a:latin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p:cNvSpPr>
            <a:spLocks noGrp="1"/>
          </p:cNvSpPr>
          <p:nvPr>
            <p:ph idx="1"/>
          </p:nvPr>
        </p:nvSpPr>
        <p:spPr>
          <a:xfrm>
            <a:off x="452403" y="1237632"/>
            <a:ext cx="11029615" cy="4673324"/>
          </a:xfrm>
        </p:spPr>
        <p:txBody>
          <a:bodyPr>
            <a:normAutofit/>
          </a:bodyPr>
          <a:lstStyle/>
          <a:p>
            <a:pPr marL="0" indent="0">
              <a:buNone/>
            </a:pPr>
            <a:r>
              <a:rPr lang="en-US" sz="2400" dirty="0"/>
              <a:t>.</a:t>
            </a:r>
            <a:endParaRPr lang="en-IN" sz="1400" dirty="0"/>
          </a:p>
        </p:txBody>
      </p:sp>
      <p:sp>
        <p:nvSpPr>
          <p:cNvPr id="6" name="Text 1"/>
          <p:cNvSpPr/>
          <p:nvPr/>
        </p:nvSpPr>
        <p:spPr>
          <a:xfrm>
            <a:off x="457200" y="91440"/>
            <a:ext cx="8229600" cy="457200"/>
          </a:xfrm>
          <a:prstGeom prst="rect">
            <a:avLst/>
          </a:prstGeom>
          <a:noFill/>
        </p:spPr>
        <p:txBody>
          <a:bodyPr wrap="square" rtlCol="0" anchor="ctr"/>
          <a:lstStyle/>
          <a:p>
            <a:pPr marL="0" indent="0">
              <a:buNone/>
            </a:pPr>
            <a:r>
              <a:rPr lang="en-US" sz="26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2600" dirty="0"/>
          </a:p>
        </p:txBody>
      </p:sp>
      <p:sp>
        <p:nvSpPr>
          <p:cNvPr id="7" name="Text 2"/>
          <p:cNvSpPr/>
          <p:nvPr/>
        </p:nvSpPr>
        <p:spPr>
          <a:xfrm>
            <a:off x="457200" y="1134237"/>
            <a:ext cx="8229600" cy="347472"/>
          </a:xfrm>
          <a:prstGeom prst="rect">
            <a:avLst/>
          </a:prstGeom>
          <a:noFill/>
        </p:spPr>
        <p:txBody>
          <a:bodyPr wrap="square" rtlCol="0" anchor="ctr"/>
          <a:lstStyle/>
          <a:p>
            <a:pPr marL="0" indent="0">
              <a:buNone/>
            </a:pPr>
            <a:r>
              <a:rPr lang="en-US" sz="1300" i="1" dirty="0">
                <a:solidFill>
                  <a:srgbClr val="00BCD4"/>
                </a:solidFill>
                <a:latin typeface="Calibri" panose="020F0502020204030204" pitchFamily="34" charset="0"/>
                <a:ea typeface="Calibri" panose="020F0502020204030204" pitchFamily="34" charset="-122"/>
                <a:cs typeface="Calibri" panose="020F0502020204030204" pitchFamily="34" charset="-120"/>
              </a:rPr>
              <a:t>Why does this problem need to be solved?</a:t>
            </a:r>
            <a:endParaRPr lang="en-US" sz="1300" dirty="0"/>
          </a:p>
        </p:txBody>
      </p:sp>
      <p:sp>
        <p:nvSpPr>
          <p:cNvPr id="8" name="Shape 3"/>
          <p:cNvSpPr/>
          <p:nvPr/>
        </p:nvSpPr>
        <p:spPr>
          <a:xfrm>
            <a:off x="1191895" y="1494790"/>
            <a:ext cx="9705975" cy="1590675"/>
          </a:xfrm>
          <a:prstGeom prst="roundRect">
            <a:avLst>
              <a:gd name="adj" fmla="val 9091"/>
            </a:avLst>
          </a:prstGeom>
          <a:solidFill>
            <a:srgbClr val="FFF8E1"/>
          </a:solidFill>
          <a:ln w="25400">
            <a:solidFill>
              <a:srgbClr val="F57F17"/>
            </a:solidFill>
            <a:prstDash val="solid"/>
          </a:ln>
        </p:spPr>
        <p:txBody>
          <a:bodyPr/>
          <a:p>
            <a:endParaRPr lang="en-US"/>
          </a:p>
        </p:txBody>
      </p:sp>
      <p:sp>
        <p:nvSpPr>
          <p:cNvPr id="9" name="Text 4"/>
          <p:cNvSpPr/>
          <p:nvPr/>
        </p:nvSpPr>
        <p:spPr>
          <a:xfrm>
            <a:off x="1410335" y="1854327"/>
            <a:ext cx="8138160" cy="914400"/>
          </a:xfrm>
          <a:prstGeom prst="rect">
            <a:avLst/>
          </a:prstGeom>
          <a:noFill/>
        </p:spPr>
        <p:txBody>
          <a:bodyPr wrap="square" rtlCol="0" anchor="ctr"/>
          <a:lstStyle/>
          <a:p>
            <a:pPr marL="0" indent="0">
              <a:buNone/>
            </a:pPr>
            <a:r>
              <a:rPr lang="en-US" sz="1600" dirty="0">
                <a:solidFill>
                  <a:srgbClr val="1A1A2E"/>
                </a:solidFill>
                <a:latin typeface="Calibri" panose="020F0502020204030204" pitchFamily="34" charset="0"/>
                <a:ea typeface="Calibri" panose="020F0502020204030204" pitchFamily="34" charset="-122"/>
                <a:cs typeface="Calibri" panose="020F0502020204030204" pitchFamily="34" charset="-120"/>
              </a:rPr>
              <a:t>⚠️  Every year, thousands of Indian fresh graduates fall victim to fraudulent job postings. Scammers create fake listings on job portals like Naukri and LinkedIn stealing registration fees, collecting sensitive personal documents (Aadhaar, PAN, bank details), and vanishing. With no easy verification tool, students cannot protect themselves.</a:t>
            </a:r>
            <a:endParaRPr lang="en-US" sz="1600" dirty="0"/>
          </a:p>
        </p:txBody>
      </p:sp>
      <p:sp>
        <p:nvSpPr>
          <p:cNvPr id="10" name="Shape 5"/>
          <p:cNvSpPr/>
          <p:nvPr/>
        </p:nvSpPr>
        <p:spPr>
          <a:xfrm>
            <a:off x="452120" y="3390900"/>
            <a:ext cx="2651760" cy="1325880"/>
          </a:xfrm>
          <a:prstGeom prst="roundRect">
            <a:avLst>
              <a:gd name="adj" fmla="val 6897"/>
            </a:avLst>
          </a:prstGeom>
          <a:solidFill>
            <a:srgbClr val="FCE4EC"/>
          </a:solidFill>
          <a:ln w="25400">
            <a:solidFill>
              <a:srgbClr val="C62828"/>
            </a:solidFill>
            <a:prstDash val="solid"/>
          </a:ln>
          <a:effectLst>
            <a:outerShdw blurRad="101600" dist="38100" dir="2700000" algn="bl" rotWithShape="0">
              <a:srgbClr val="000000">
                <a:alpha val="12000"/>
              </a:srgbClr>
            </a:outerShdw>
          </a:effectLst>
        </p:spPr>
      </p:sp>
      <p:sp>
        <p:nvSpPr>
          <p:cNvPr id="11" name="Text 6"/>
          <p:cNvSpPr/>
          <p:nvPr/>
        </p:nvSpPr>
        <p:spPr>
          <a:xfrm>
            <a:off x="548640" y="3479165"/>
            <a:ext cx="2468880" cy="594360"/>
          </a:xfrm>
          <a:prstGeom prst="rect">
            <a:avLst/>
          </a:prstGeom>
          <a:noFill/>
        </p:spPr>
        <p:txBody>
          <a:bodyPr wrap="square" rtlCol="0" anchor="ctr"/>
          <a:lstStyle/>
          <a:p>
            <a:pPr marL="0" indent="0" algn="ctr">
              <a:buNone/>
            </a:pPr>
            <a:r>
              <a:rPr lang="en-US" sz="2200" b="1" dirty="0">
                <a:solidFill>
                  <a:srgbClr val="0D1B2A"/>
                </a:solidFill>
                <a:latin typeface="Calibri" panose="020F0502020204030204" pitchFamily="34" charset="0"/>
                <a:ea typeface="Calibri" panose="020F0502020204030204" pitchFamily="34" charset="-122"/>
                <a:cs typeface="Calibri" panose="020F0502020204030204" pitchFamily="34" charset="-120"/>
              </a:rPr>
              <a:t>₹1,000+</a:t>
            </a:r>
            <a:endParaRPr lang="en-US" sz="2200" dirty="0"/>
          </a:p>
        </p:txBody>
      </p:sp>
      <p:sp>
        <p:nvSpPr>
          <p:cNvPr id="12" name="Text 7"/>
          <p:cNvSpPr/>
          <p:nvPr/>
        </p:nvSpPr>
        <p:spPr>
          <a:xfrm>
            <a:off x="635000" y="3933698"/>
            <a:ext cx="2468880" cy="640080"/>
          </a:xfrm>
          <a:prstGeom prst="rect">
            <a:avLst/>
          </a:prstGeom>
          <a:noFill/>
        </p:spPr>
        <p:txBody>
          <a:bodyPr wrap="square" rtlCol="0" anchor="ctr"/>
          <a:lstStyle/>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Average money lost</a:t>
            </a:r>
            <a:endParaRPr lang="en-US" sz="1000" dirty="0"/>
          </a:p>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per victim to scam fees</a:t>
            </a:r>
            <a:endParaRPr lang="en-US" sz="1000" dirty="0"/>
          </a:p>
        </p:txBody>
      </p:sp>
      <p:sp>
        <p:nvSpPr>
          <p:cNvPr id="13" name="Shape 8"/>
          <p:cNvSpPr/>
          <p:nvPr/>
        </p:nvSpPr>
        <p:spPr>
          <a:xfrm>
            <a:off x="4569460" y="3390900"/>
            <a:ext cx="2651760" cy="1325880"/>
          </a:xfrm>
          <a:prstGeom prst="roundRect">
            <a:avLst>
              <a:gd name="adj" fmla="val 6897"/>
            </a:avLst>
          </a:prstGeom>
          <a:solidFill>
            <a:srgbClr val="FFF3E0"/>
          </a:solidFill>
          <a:ln w="25400">
            <a:solidFill>
              <a:srgbClr val="F57F17"/>
            </a:solidFill>
            <a:prstDash val="solid"/>
          </a:ln>
          <a:effectLst>
            <a:outerShdw blurRad="101600" dist="38100" dir="2700000" algn="bl" rotWithShape="0">
              <a:srgbClr val="000000">
                <a:alpha val="12000"/>
              </a:srgbClr>
            </a:outerShdw>
          </a:effectLst>
        </p:spPr>
      </p:sp>
      <p:sp>
        <p:nvSpPr>
          <p:cNvPr id="14" name="Text 9"/>
          <p:cNvSpPr/>
          <p:nvPr/>
        </p:nvSpPr>
        <p:spPr>
          <a:xfrm>
            <a:off x="4634230" y="3456305"/>
            <a:ext cx="2468880" cy="594360"/>
          </a:xfrm>
          <a:prstGeom prst="rect">
            <a:avLst/>
          </a:prstGeom>
          <a:noFill/>
        </p:spPr>
        <p:txBody>
          <a:bodyPr wrap="square" rtlCol="0" anchor="ctr"/>
          <a:lstStyle/>
          <a:p>
            <a:pPr marL="0" indent="0" algn="ctr">
              <a:buNone/>
            </a:pPr>
            <a:r>
              <a:rPr lang="en-US" sz="2200" b="1" dirty="0">
                <a:solidFill>
                  <a:srgbClr val="0D1B2A"/>
                </a:solidFill>
                <a:latin typeface="Calibri" panose="020F0502020204030204" pitchFamily="34" charset="0"/>
                <a:ea typeface="Calibri" panose="020F0502020204030204" pitchFamily="34" charset="-122"/>
                <a:cs typeface="Calibri" panose="020F0502020204030204" pitchFamily="34" charset="-120"/>
              </a:rPr>
              <a:t>3.66%</a:t>
            </a:r>
            <a:endParaRPr lang="en-US" sz="2200" dirty="0"/>
          </a:p>
        </p:txBody>
      </p:sp>
      <p:sp>
        <p:nvSpPr>
          <p:cNvPr id="15" name="Text 10"/>
          <p:cNvSpPr/>
          <p:nvPr/>
        </p:nvSpPr>
        <p:spPr>
          <a:xfrm>
            <a:off x="4660900" y="3956558"/>
            <a:ext cx="2468880" cy="640080"/>
          </a:xfrm>
          <a:prstGeom prst="rect">
            <a:avLst/>
          </a:prstGeom>
          <a:noFill/>
        </p:spPr>
        <p:txBody>
          <a:bodyPr wrap="square" rtlCol="0" anchor="ctr"/>
          <a:lstStyle/>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Of all online job postings</a:t>
            </a:r>
            <a:endParaRPr lang="en-US" sz="1000" dirty="0"/>
          </a:p>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are fraudulent (EMSCAD)</a:t>
            </a:r>
            <a:endParaRPr lang="en-US" sz="1000" dirty="0"/>
          </a:p>
        </p:txBody>
      </p:sp>
      <p:sp>
        <p:nvSpPr>
          <p:cNvPr id="16" name="Shape 11"/>
          <p:cNvSpPr/>
          <p:nvPr/>
        </p:nvSpPr>
        <p:spPr>
          <a:xfrm>
            <a:off x="8686800" y="3390900"/>
            <a:ext cx="2651760" cy="1325880"/>
          </a:xfrm>
          <a:prstGeom prst="roundRect">
            <a:avLst>
              <a:gd name="adj" fmla="val 6897"/>
            </a:avLst>
          </a:prstGeom>
          <a:solidFill>
            <a:srgbClr val="EDE7F6"/>
          </a:solidFill>
          <a:ln w="25400">
            <a:solidFill>
              <a:srgbClr val="1565C0"/>
            </a:solidFill>
            <a:prstDash val="solid"/>
          </a:ln>
          <a:effectLst>
            <a:outerShdw blurRad="101600" dist="38100" dir="2700000" algn="bl" rotWithShape="0">
              <a:srgbClr val="000000">
                <a:alpha val="12000"/>
              </a:srgbClr>
            </a:outerShdw>
          </a:effectLst>
        </p:spPr>
      </p:sp>
      <p:sp>
        <p:nvSpPr>
          <p:cNvPr id="17" name="Text 12"/>
          <p:cNvSpPr/>
          <p:nvPr/>
        </p:nvSpPr>
        <p:spPr>
          <a:xfrm>
            <a:off x="8778240" y="3479165"/>
            <a:ext cx="2468880" cy="594360"/>
          </a:xfrm>
          <a:prstGeom prst="rect">
            <a:avLst/>
          </a:prstGeom>
          <a:noFill/>
        </p:spPr>
        <p:txBody>
          <a:bodyPr wrap="square" rtlCol="0" anchor="ctr"/>
          <a:lstStyle/>
          <a:p>
            <a:pPr marL="0" indent="0" algn="ctr">
              <a:buNone/>
            </a:pPr>
            <a:r>
              <a:rPr lang="en-US" sz="2200" b="1" dirty="0">
                <a:solidFill>
                  <a:srgbClr val="0D1B2A"/>
                </a:solidFill>
                <a:latin typeface="Calibri" panose="020F0502020204030204" pitchFamily="34" charset="0"/>
                <a:ea typeface="Calibri" panose="020F0502020204030204" pitchFamily="34" charset="-122"/>
                <a:cs typeface="Calibri" panose="020F0502020204030204" pitchFamily="34" charset="-120"/>
              </a:rPr>
              <a:t>Fresh</a:t>
            </a:r>
            <a:endParaRPr lang="en-US" sz="2200" dirty="0"/>
          </a:p>
          <a:p>
            <a:pPr marL="0" indent="0" algn="ctr">
              <a:buNone/>
            </a:pPr>
            <a:r>
              <a:rPr lang="en-US" sz="2200" b="1" dirty="0">
                <a:solidFill>
                  <a:srgbClr val="0D1B2A"/>
                </a:solidFill>
                <a:latin typeface="Calibri" panose="020F0502020204030204" pitchFamily="34" charset="0"/>
                <a:ea typeface="Calibri" panose="020F0502020204030204" pitchFamily="34" charset="-122"/>
                <a:cs typeface="Calibri" panose="020F0502020204030204" pitchFamily="34" charset="-120"/>
              </a:rPr>
              <a:t>Grads</a:t>
            </a:r>
            <a:endParaRPr lang="en-US" sz="2200" dirty="0"/>
          </a:p>
        </p:txBody>
      </p:sp>
      <p:sp>
        <p:nvSpPr>
          <p:cNvPr id="18" name="Text 13"/>
          <p:cNvSpPr/>
          <p:nvPr/>
        </p:nvSpPr>
        <p:spPr>
          <a:xfrm>
            <a:off x="8869680" y="3956558"/>
            <a:ext cx="2468880" cy="640080"/>
          </a:xfrm>
          <a:prstGeom prst="rect">
            <a:avLst/>
          </a:prstGeom>
          <a:noFill/>
        </p:spPr>
        <p:txBody>
          <a:bodyPr wrap="square" rtlCol="0" anchor="ctr"/>
          <a:lstStyle/>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Most targeted group —</a:t>
            </a:r>
            <a:endParaRPr lang="en-US" sz="1000" dirty="0"/>
          </a:p>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no experience, high desperation</a:t>
            </a:r>
            <a:endParaRPr lang="en-US" sz="1000" dirty="0"/>
          </a:p>
        </p:txBody>
      </p:sp>
      <p:sp>
        <p:nvSpPr>
          <p:cNvPr id="19" name="Text 14"/>
          <p:cNvSpPr/>
          <p:nvPr/>
        </p:nvSpPr>
        <p:spPr>
          <a:xfrm>
            <a:off x="768350" y="4946015"/>
            <a:ext cx="3657600" cy="292608"/>
          </a:xfrm>
          <a:prstGeom prst="rect">
            <a:avLst/>
          </a:prstGeom>
          <a:noFill/>
        </p:spPr>
        <p:txBody>
          <a:bodyPr wrap="square" rtlCol="0" anchor="ctr"/>
          <a:lstStyle/>
          <a:p>
            <a:pPr marL="0" indent="0">
              <a:buNone/>
            </a:pPr>
            <a:r>
              <a:rPr lang="en-US" b="1" dirty="0">
                <a:solidFill>
                  <a:srgbClr val="1565C0"/>
                </a:solidFill>
                <a:latin typeface="Calibri" panose="020F0502020204030204" pitchFamily="34" charset="0"/>
                <a:ea typeface="Calibri" panose="020F0502020204030204" pitchFamily="34" charset="-122"/>
                <a:cs typeface="Calibri" panose="020F0502020204030204" pitchFamily="34" charset="-120"/>
              </a:rPr>
              <a:t>Key Points:</a:t>
            </a:r>
            <a:endParaRPr lang="en-US" dirty="0"/>
          </a:p>
        </p:txBody>
      </p:sp>
      <p:sp>
        <p:nvSpPr>
          <p:cNvPr id="20" name="Text 15"/>
          <p:cNvSpPr/>
          <p:nvPr/>
        </p:nvSpPr>
        <p:spPr>
          <a:xfrm>
            <a:off x="365760" y="5468620"/>
            <a:ext cx="5337810" cy="1141095"/>
          </a:xfrm>
          <a:prstGeom prst="rect">
            <a:avLst/>
          </a:prstGeom>
          <a:noFill/>
        </p:spPr>
        <p:txBody>
          <a:bodyPr wrap="square" rtlCol="0" anchor="ctr"/>
          <a:lstStyle/>
          <a:p>
            <a:pPr marL="342900" indent="-342900">
              <a:buSzPct val="100000"/>
              <a:buChar char="•"/>
            </a:pPr>
            <a:r>
              <a:rPr lang="en-US" sz="1600" dirty="0">
                <a:solidFill>
                  <a:srgbClr val="1A1A2E"/>
                </a:solidFill>
                <a:latin typeface="Calibri" panose="020F0502020204030204" pitchFamily="34" charset="0"/>
                <a:ea typeface="Calibri" panose="020F0502020204030204" pitchFamily="34" charset="-122"/>
                <a:cs typeface="Calibri" panose="020F0502020204030204" pitchFamily="34" charset="-120"/>
              </a:rPr>
              <a:t>No easy way to verify if a job posting is genuine before applying</a:t>
            </a:r>
            <a:endParaRPr lang="en-US" sz="1600" dirty="0"/>
          </a:p>
          <a:p>
            <a:pPr marL="342900" indent="-342900">
              <a:buSzPct val="100000"/>
              <a:buChar char="•"/>
            </a:pPr>
            <a:r>
              <a:rPr lang="en-US" sz="1600" dirty="0">
                <a:solidFill>
                  <a:srgbClr val="1A1A2E"/>
                </a:solidFill>
                <a:latin typeface="Calibri" panose="020F0502020204030204" pitchFamily="34" charset="0"/>
                <a:ea typeface="Calibri" panose="020F0502020204030204" pitchFamily="34" charset="-122"/>
                <a:cs typeface="Calibri" panose="020F0502020204030204" pitchFamily="34" charset="-120"/>
              </a:rPr>
              <a:t>Fake postings often look identical to real ones — difficult to distinguish manually</a:t>
            </a:r>
            <a:endParaRPr lang="en-US" sz="1600" dirty="0"/>
          </a:p>
          <a:p>
            <a:pPr marL="342900" indent="-342900">
              <a:buSzPct val="100000"/>
              <a:buChar char="•"/>
            </a:pPr>
            <a:r>
              <a:rPr lang="en-US" sz="1600" dirty="0">
                <a:solidFill>
                  <a:srgbClr val="1A1A2E"/>
                </a:solidFill>
                <a:latin typeface="Calibri" panose="020F0502020204030204" pitchFamily="34" charset="0"/>
                <a:ea typeface="Calibri" panose="020F0502020204030204" pitchFamily="34" charset="-122"/>
                <a:cs typeface="Calibri" panose="020F0502020204030204" pitchFamily="34" charset="-120"/>
              </a:rPr>
              <a:t>Scammers specifically target freshers with no professional experience</a:t>
            </a:r>
            <a:endParaRPr lang="en-US" sz="1600" dirty="0"/>
          </a:p>
        </p:txBody>
      </p:sp>
      <p:sp>
        <p:nvSpPr>
          <p:cNvPr id="21" name="Text 16"/>
          <p:cNvSpPr/>
          <p:nvPr/>
        </p:nvSpPr>
        <p:spPr>
          <a:xfrm>
            <a:off x="6758940" y="5175885"/>
            <a:ext cx="3840480" cy="292608"/>
          </a:xfrm>
          <a:prstGeom prst="rect">
            <a:avLst/>
          </a:prstGeom>
          <a:noFill/>
        </p:spPr>
        <p:txBody>
          <a:bodyPr wrap="square" rtlCol="0" anchor="ctr"/>
          <a:lstStyle/>
          <a:p>
            <a:pPr marL="0" indent="0">
              <a:buNone/>
            </a:pPr>
            <a:r>
              <a:rPr lang="en-US" b="1" dirty="0">
                <a:solidFill>
                  <a:srgbClr val="C62828"/>
                </a:solidFill>
                <a:latin typeface="Calibri" panose="020F0502020204030204" pitchFamily="34" charset="0"/>
                <a:ea typeface="Calibri" panose="020F0502020204030204" pitchFamily="34" charset="-122"/>
                <a:cs typeface="Calibri" panose="020F0502020204030204" pitchFamily="34" charset="-120"/>
              </a:rPr>
              <a:t>Most Common Scam Tactics:</a:t>
            </a:r>
            <a:endParaRPr lang="en-US" dirty="0"/>
          </a:p>
        </p:txBody>
      </p:sp>
      <p:sp>
        <p:nvSpPr>
          <p:cNvPr id="22" name="Text 17"/>
          <p:cNvSpPr/>
          <p:nvPr/>
        </p:nvSpPr>
        <p:spPr>
          <a:xfrm>
            <a:off x="6325870" y="5431155"/>
            <a:ext cx="5400040" cy="914400"/>
          </a:xfrm>
          <a:prstGeom prst="rect">
            <a:avLst/>
          </a:prstGeom>
          <a:noFill/>
        </p:spPr>
        <p:txBody>
          <a:bodyPr wrap="square" rtlCol="0" anchor="ctr"/>
          <a:lstStyle/>
          <a:p>
            <a:pPr marL="342900" indent="-342900">
              <a:buSzPct val="100000"/>
              <a:buChar char="•"/>
            </a:pPr>
            <a:r>
              <a:rPr lang="en-US" sz="1600" dirty="0">
                <a:solidFill>
                  <a:srgbClr val="1A1A2E"/>
                </a:solidFill>
                <a:latin typeface="Calibri" panose="020F0502020204030204" pitchFamily="34" charset="0"/>
                <a:ea typeface="Calibri" panose="020F0502020204030204" pitchFamily="34" charset="-122"/>
                <a:cs typeface="Calibri" panose="020F0502020204030204" pitchFamily="34" charset="-120"/>
              </a:rPr>
              <a:t>Fake Work-From-Home jobs with guaranteed high income</a:t>
            </a:r>
            <a:endParaRPr lang="en-US" sz="1600" dirty="0"/>
          </a:p>
          <a:p>
            <a:pPr marL="342900" indent="-342900">
              <a:buSzPct val="100000"/>
              <a:buChar char="•"/>
            </a:pPr>
            <a:r>
              <a:rPr lang="en-US" sz="1600" dirty="0">
                <a:solidFill>
                  <a:srgbClr val="1A1A2E"/>
                </a:solidFill>
                <a:latin typeface="Calibri" panose="020F0502020204030204" pitchFamily="34" charset="0"/>
                <a:ea typeface="Calibri" panose="020F0502020204030204" pitchFamily="34" charset="-122"/>
                <a:cs typeface="Calibri" panose="020F0502020204030204" pitchFamily="34" charset="-120"/>
              </a:rPr>
              <a:t>Registration/security deposit fees to 'confirm' joining</a:t>
            </a:r>
            <a:endParaRPr lang="en-US" sz="1600" dirty="0"/>
          </a:p>
          <a:p>
            <a:pPr marL="342900" indent="-342900">
              <a:buSzPct val="100000"/>
              <a:buChar char="•"/>
            </a:pPr>
            <a:r>
              <a:rPr lang="en-US" sz="1600" dirty="0">
                <a:solidFill>
                  <a:srgbClr val="1A1A2E"/>
                </a:solidFill>
                <a:latin typeface="Calibri" panose="020F0502020204030204" pitchFamily="34" charset="0"/>
                <a:ea typeface="Calibri" panose="020F0502020204030204" pitchFamily="34" charset="-122"/>
                <a:cs typeface="Calibri" panose="020F0502020204030204" pitchFamily="34" charset="-120"/>
              </a:rPr>
              <a:t>Collecting Aadhaar, PAN, bank details for fake onboarding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p:cNvSpPr>
            <a:spLocks noGrp="1"/>
          </p:cNvSpPr>
          <p:nvPr>
            <p:ph idx="1"/>
          </p:nvPr>
        </p:nvSpPr>
        <p:spPr>
          <a:xfrm>
            <a:off x="441960" y="1178560"/>
            <a:ext cx="11750040" cy="5472430"/>
          </a:xfrm>
        </p:spPr>
        <p:txBody>
          <a:bodyPr vert="horz" lIns="91440" tIns="45720" rIns="91440" bIns="45720" rtlCol="0" anchor="ctr">
            <a:noAutofit/>
          </a:bodyPr>
          <a:lstStyle/>
          <a:p>
            <a:pPr marL="0" indent="0">
              <a:buNone/>
            </a:pPr>
            <a:endParaRPr lang="en-IN" sz="1600" dirty="0"/>
          </a:p>
          <a:p>
            <a:pPr marL="0" indent="0">
              <a:buNone/>
            </a:pPr>
            <a:endParaRPr lang="en-IN" dirty="0"/>
          </a:p>
        </p:txBody>
      </p:sp>
      <p:sp>
        <p:nvSpPr>
          <p:cNvPr id="4" name="Text 1"/>
          <p:cNvSpPr/>
          <p:nvPr/>
        </p:nvSpPr>
        <p:spPr>
          <a:xfrm>
            <a:off x="457200" y="91440"/>
            <a:ext cx="8229600" cy="457200"/>
          </a:xfrm>
          <a:prstGeom prst="rect">
            <a:avLst/>
          </a:prstGeom>
          <a:noFill/>
        </p:spPr>
        <p:txBody>
          <a:bodyPr wrap="square" rtlCol="0" anchor="ctr"/>
          <a:lstStyle/>
          <a:p>
            <a:pPr marL="0" indent="0">
              <a:buNone/>
            </a:pPr>
            <a:r>
              <a:rPr lang="en-US" sz="26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2600" dirty="0"/>
          </a:p>
        </p:txBody>
      </p:sp>
      <p:sp>
        <p:nvSpPr>
          <p:cNvPr id="6" name="Text 2"/>
          <p:cNvSpPr/>
          <p:nvPr/>
        </p:nvSpPr>
        <p:spPr>
          <a:xfrm>
            <a:off x="656590" y="1188720"/>
            <a:ext cx="8618220" cy="401320"/>
          </a:xfrm>
          <a:prstGeom prst="rect">
            <a:avLst/>
          </a:prstGeom>
          <a:noFill/>
        </p:spPr>
        <p:txBody>
          <a:bodyPr wrap="square" rtlCol="0" anchor="ctr"/>
          <a:lstStyle/>
          <a:p>
            <a:pPr marL="0" indent="0">
              <a:buNone/>
            </a:pPr>
            <a:r>
              <a:rPr lang="en-US" sz="1300" i="1" dirty="0">
                <a:solidFill>
                  <a:srgbClr val="BBDEFB"/>
                </a:solidFill>
                <a:latin typeface="Calibri" panose="020F0502020204030204" pitchFamily="34" charset="0"/>
                <a:ea typeface="Calibri" panose="020F0502020204030204" pitchFamily="34" charset="-122"/>
                <a:cs typeface="Calibri" panose="020F0502020204030204" pitchFamily="34" charset="-120"/>
              </a:rPr>
              <a:t>An AI-powered web application that detects fake job postings in real time</a:t>
            </a:r>
            <a:endParaRPr lang="en-US" sz="1300" dirty="0"/>
          </a:p>
        </p:txBody>
      </p:sp>
      <p:grpSp>
        <p:nvGrpSpPr>
          <p:cNvPr id="36" name="Group 35"/>
          <p:cNvGrpSpPr/>
          <p:nvPr/>
        </p:nvGrpSpPr>
        <p:grpSpPr>
          <a:xfrm>
            <a:off x="1569085" y="1807845"/>
            <a:ext cx="8832850" cy="1579880"/>
            <a:chOff x="1717" y="3634"/>
            <a:chExt cx="13421" cy="2244"/>
          </a:xfrm>
        </p:grpSpPr>
        <p:sp>
          <p:nvSpPr>
            <p:cNvPr id="7" name="Shape 3"/>
            <p:cNvSpPr/>
            <p:nvPr/>
          </p:nvSpPr>
          <p:spPr>
            <a:xfrm>
              <a:off x="1717" y="3634"/>
              <a:ext cx="3016" cy="2245"/>
            </a:xfrm>
            <a:prstGeom prst="roundRect">
              <a:avLst>
                <a:gd name="adj" fmla="val 8889"/>
              </a:avLst>
            </a:prstGeom>
            <a:solidFill>
              <a:srgbClr val="E3F2FD"/>
            </a:solidFill>
            <a:ln w="19050">
              <a:solidFill>
                <a:srgbClr val="1565C0"/>
              </a:solidFill>
              <a:prstDash val="solid"/>
            </a:ln>
            <a:effectLst>
              <a:outerShdw blurRad="101600" dist="38100" dir="2700000" algn="bl" rotWithShape="0">
                <a:srgbClr val="000000">
                  <a:alpha val="12000"/>
                </a:srgbClr>
              </a:outerShdw>
            </a:effectLst>
          </p:spPr>
        </p:sp>
        <p:sp>
          <p:nvSpPr>
            <p:cNvPr id="8" name="Text 4"/>
            <p:cNvSpPr/>
            <p:nvPr/>
          </p:nvSpPr>
          <p:spPr>
            <a:xfrm>
              <a:off x="1717" y="3717"/>
              <a:ext cx="3016" cy="914"/>
            </a:xfrm>
            <a:prstGeom prst="rect">
              <a:avLst/>
            </a:prstGeom>
            <a:noFill/>
          </p:spPr>
          <p:txBody>
            <a:bodyPr wrap="square"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9" name="Text 5"/>
            <p:cNvSpPr/>
            <p:nvPr/>
          </p:nvSpPr>
          <p:spPr>
            <a:xfrm>
              <a:off x="1717" y="4598"/>
              <a:ext cx="3016" cy="1164"/>
            </a:xfrm>
            <a:prstGeom prst="rect">
              <a:avLst/>
            </a:prstGeom>
            <a:noFill/>
          </p:spPr>
          <p:txBody>
            <a:bodyPr wrap="square" rtlCol="0" anchor="ctr"/>
            <a:lstStyle/>
            <a:p>
              <a:pPr marL="0" indent="0" algn="ctr">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User Pastes</a:t>
              </a:r>
              <a:endParaRPr lang="en-US" sz="1000" dirty="0"/>
            </a:p>
            <a:p>
              <a:pPr marL="0" indent="0" algn="ctr">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Job Posting</a:t>
              </a:r>
              <a:endParaRPr lang="en-US" sz="1000" dirty="0"/>
            </a:p>
          </p:txBody>
        </p:sp>
        <p:sp>
          <p:nvSpPr>
            <p:cNvPr id="10" name="Text 6"/>
            <p:cNvSpPr/>
            <p:nvPr/>
          </p:nvSpPr>
          <p:spPr>
            <a:xfrm>
              <a:off x="4733" y="4299"/>
              <a:ext cx="452" cy="831"/>
            </a:xfrm>
            <a:prstGeom prst="rect">
              <a:avLst/>
            </a:prstGeom>
            <a:noFill/>
          </p:spPr>
          <p:txBody>
            <a:bodyPr wrap="square" lIns="0" tIns="0" rIns="0" bIns="0" rtlCol="0" anchor="ctr"/>
            <a:lstStyle/>
            <a:p>
              <a:pPr marL="0" indent="0" algn="ctr">
                <a:buNone/>
              </a:pPr>
              <a:r>
                <a:rPr lang="en-US" sz="2000" b="1" dirty="0">
                  <a:solidFill>
                    <a:srgbClr val="00BCD4"/>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1" name="Shape 7"/>
            <p:cNvSpPr/>
            <p:nvPr/>
          </p:nvSpPr>
          <p:spPr>
            <a:xfrm>
              <a:off x="5185" y="3634"/>
              <a:ext cx="3016" cy="2245"/>
            </a:xfrm>
            <a:prstGeom prst="roundRect">
              <a:avLst>
                <a:gd name="adj" fmla="val 8889"/>
              </a:avLst>
            </a:prstGeom>
            <a:solidFill>
              <a:srgbClr val="E3F2FD"/>
            </a:solidFill>
            <a:ln w="19050">
              <a:solidFill>
                <a:srgbClr val="1565C0"/>
              </a:solidFill>
              <a:prstDash val="solid"/>
            </a:ln>
            <a:effectLst>
              <a:outerShdw blurRad="101600" dist="38100" dir="2700000" algn="bl" rotWithShape="0">
                <a:srgbClr val="000000">
                  <a:alpha val="12000"/>
                </a:srgbClr>
              </a:outerShdw>
            </a:effectLst>
          </p:spPr>
        </p:sp>
        <p:sp>
          <p:nvSpPr>
            <p:cNvPr id="12" name="Text 8"/>
            <p:cNvSpPr/>
            <p:nvPr/>
          </p:nvSpPr>
          <p:spPr>
            <a:xfrm>
              <a:off x="5185" y="3717"/>
              <a:ext cx="3016" cy="914"/>
            </a:xfrm>
            <a:prstGeom prst="rect">
              <a:avLst/>
            </a:prstGeom>
            <a:noFill/>
          </p:spPr>
          <p:txBody>
            <a:bodyPr wrap="square"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13" name="Text 9"/>
            <p:cNvSpPr/>
            <p:nvPr/>
          </p:nvSpPr>
          <p:spPr>
            <a:xfrm>
              <a:off x="5185" y="4598"/>
              <a:ext cx="3016" cy="1164"/>
            </a:xfrm>
            <a:prstGeom prst="rect">
              <a:avLst/>
            </a:prstGeom>
            <a:noFill/>
          </p:spPr>
          <p:txBody>
            <a:bodyPr wrap="square" rtlCol="0" anchor="ctr"/>
            <a:lstStyle/>
            <a:p>
              <a:pPr marL="0" indent="0" algn="ctr">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ML Model</a:t>
              </a:r>
              <a:endParaRPr lang="en-US" sz="1000" dirty="0"/>
            </a:p>
            <a:p>
              <a:pPr marL="0" indent="0" algn="ctr">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Analyzes Text</a:t>
              </a:r>
              <a:endParaRPr lang="en-US" sz="1000" dirty="0"/>
            </a:p>
          </p:txBody>
        </p:sp>
        <p:sp>
          <p:nvSpPr>
            <p:cNvPr id="14" name="Text 10"/>
            <p:cNvSpPr/>
            <p:nvPr/>
          </p:nvSpPr>
          <p:spPr>
            <a:xfrm>
              <a:off x="8201" y="4299"/>
              <a:ext cx="452" cy="831"/>
            </a:xfrm>
            <a:prstGeom prst="rect">
              <a:avLst/>
            </a:prstGeom>
            <a:noFill/>
          </p:spPr>
          <p:txBody>
            <a:bodyPr wrap="square" lIns="0" tIns="0" rIns="0" bIns="0" rtlCol="0" anchor="ctr"/>
            <a:lstStyle/>
            <a:p>
              <a:pPr marL="0" indent="0" algn="ctr">
                <a:buNone/>
              </a:pPr>
              <a:r>
                <a:rPr lang="en-US" sz="2000" b="1" dirty="0">
                  <a:solidFill>
                    <a:srgbClr val="00BCD4"/>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5" name="Shape 11"/>
            <p:cNvSpPr/>
            <p:nvPr/>
          </p:nvSpPr>
          <p:spPr>
            <a:xfrm>
              <a:off x="8654" y="3634"/>
              <a:ext cx="3016" cy="2245"/>
            </a:xfrm>
            <a:prstGeom prst="roundRect">
              <a:avLst>
                <a:gd name="adj" fmla="val 8889"/>
              </a:avLst>
            </a:prstGeom>
            <a:solidFill>
              <a:srgbClr val="E3F2FD"/>
            </a:solidFill>
            <a:ln w="19050">
              <a:solidFill>
                <a:srgbClr val="1565C0"/>
              </a:solidFill>
              <a:prstDash val="solid"/>
            </a:ln>
            <a:effectLst>
              <a:outerShdw blurRad="101600" dist="38100" dir="2700000" algn="bl" rotWithShape="0">
                <a:srgbClr val="000000">
                  <a:alpha val="12000"/>
                </a:srgbClr>
              </a:outerShdw>
            </a:effectLst>
          </p:spPr>
        </p:sp>
        <p:sp>
          <p:nvSpPr>
            <p:cNvPr id="16" name="Text 12"/>
            <p:cNvSpPr/>
            <p:nvPr/>
          </p:nvSpPr>
          <p:spPr>
            <a:xfrm>
              <a:off x="8654" y="3717"/>
              <a:ext cx="3016" cy="914"/>
            </a:xfrm>
            <a:prstGeom prst="rect">
              <a:avLst/>
            </a:prstGeom>
            <a:noFill/>
          </p:spPr>
          <p:txBody>
            <a:bodyPr wrap="square"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17" name="Text 13"/>
            <p:cNvSpPr/>
            <p:nvPr/>
          </p:nvSpPr>
          <p:spPr>
            <a:xfrm>
              <a:off x="8654" y="4598"/>
              <a:ext cx="3016" cy="1164"/>
            </a:xfrm>
            <a:prstGeom prst="rect">
              <a:avLst/>
            </a:prstGeom>
            <a:noFill/>
          </p:spPr>
          <p:txBody>
            <a:bodyPr wrap="square" rtlCol="0" anchor="ctr"/>
            <a:lstStyle/>
            <a:p>
              <a:pPr marL="0" indent="0" algn="ctr">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Gemini AI</a:t>
              </a:r>
              <a:endParaRPr lang="en-US" sz="1000" dirty="0"/>
            </a:p>
            <a:p>
              <a:pPr marL="0" indent="0" algn="ctr">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Explains Risks</a:t>
              </a:r>
              <a:endParaRPr lang="en-US" sz="1000" dirty="0"/>
            </a:p>
          </p:txBody>
        </p:sp>
        <p:sp>
          <p:nvSpPr>
            <p:cNvPr id="18" name="Text 14"/>
            <p:cNvSpPr/>
            <p:nvPr/>
          </p:nvSpPr>
          <p:spPr>
            <a:xfrm>
              <a:off x="11670" y="4299"/>
              <a:ext cx="452" cy="831"/>
            </a:xfrm>
            <a:prstGeom prst="rect">
              <a:avLst/>
            </a:prstGeom>
            <a:noFill/>
          </p:spPr>
          <p:txBody>
            <a:bodyPr wrap="square" lIns="0" tIns="0" rIns="0" bIns="0" rtlCol="0" anchor="ctr"/>
            <a:lstStyle/>
            <a:p>
              <a:pPr marL="0" indent="0" algn="ctr">
                <a:buNone/>
              </a:pPr>
              <a:r>
                <a:rPr lang="en-US" sz="2000" b="1" dirty="0">
                  <a:solidFill>
                    <a:srgbClr val="00BCD4"/>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9" name="Shape 15"/>
            <p:cNvSpPr/>
            <p:nvPr/>
          </p:nvSpPr>
          <p:spPr>
            <a:xfrm>
              <a:off x="12122" y="3634"/>
              <a:ext cx="3016" cy="2245"/>
            </a:xfrm>
            <a:prstGeom prst="roundRect">
              <a:avLst>
                <a:gd name="adj" fmla="val 8889"/>
              </a:avLst>
            </a:prstGeom>
            <a:solidFill>
              <a:srgbClr val="E3F2FD"/>
            </a:solidFill>
            <a:ln w="19050">
              <a:solidFill>
                <a:srgbClr val="1565C0"/>
              </a:solidFill>
              <a:prstDash val="solid"/>
            </a:ln>
            <a:effectLst>
              <a:outerShdw blurRad="101600" dist="38100" dir="2700000" algn="bl" rotWithShape="0">
                <a:srgbClr val="000000">
                  <a:alpha val="12000"/>
                </a:srgbClr>
              </a:outerShdw>
            </a:effectLst>
          </p:spPr>
        </p:sp>
        <p:sp>
          <p:nvSpPr>
            <p:cNvPr id="20" name="Text 16"/>
            <p:cNvSpPr/>
            <p:nvPr/>
          </p:nvSpPr>
          <p:spPr>
            <a:xfrm>
              <a:off x="12122" y="3717"/>
              <a:ext cx="3016" cy="914"/>
            </a:xfrm>
            <a:prstGeom prst="rect">
              <a:avLst/>
            </a:prstGeom>
            <a:noFill/>
          </p:spPr>
          <p:txBody>
            <a:bodyPr wrap="square"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21" name="Text 17"/>
            <p:cNvSpPr/>
            <p:nvPr/>
          </p:nvSpPr>
          <p:spPr>
            <a:xfrm>
              <a:off x="12122" y="4598"/>
              <a:ext cx="3016" cy="1164"/>
            </a:xfrm>
            <a:prstGeom prst="rect">
              <a:avLst/>
            </a:prstGeom>
            <a:noFill/>
          </p:spPr>
          <p:txBody>
            <a:bodyPr wrap="square" rtlCol="0" anchor="ctr"/>
            <a:lstStyle/>
            <a:p>
              <a:pPr marL="0" indent="0" algn="ctr">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Risk Level +</a:t>
              </a:r>
              <a:endParaRPr lang="en-US" sz="1000" dirty="0"/>
            </a:p>
            <a:p>
              <a:pPr marL="0" indent="0" algn="ctr">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Safety Advice</a:t>
              </a:r>
              <a:endParaRPr lang="en-US" sz="1000" dirty="0"/>
            </a:p>
          </p:txBody>
        </p:sp>
      </p:grpSp>
      <p:grpSp>
        <p:nvGrpSpPr>
          <p:cNvPr id="37" name="Group 36"/>
          <p:cNvGrpSpPr/>
          <p:nvPr/>
        </p:nvGrpSpPr>
        <p:grpSpPr>
          <a:xfrm>
            <a:off x="258445" y="3547745"/>
            <a:ext cx="11628120" cy="2782570"/>
            <a:chOff x="1717" y="6245"/>
            <a:chExt cx="14024" cy="4123"/>
          </a:xfrm>
        </p:grpSpPr>
        <p:sp>
          <p:nvSpPr>
            <p:cNvPr id="22" name="Shape 18"/>
            <p:cNvSpPr/>
            <p:nvPr/>
          </p:nvSpPr>
          <p:spPr>
            <a:xfrm>
              <a:off x="1717" y="6245"/>
              <a:ext cx="6786" cy="1962"/>
            </a:xfrm>
            <a:prstGeom prst="roundRect">
              <a:avLst>
                <a:gd name="adj" fmla="val 8475"/>
              </a:avLst>
            </a:prstGeom>
            <a:solidFill>
              <a:srgbClr val="F8FBFF"/>
            </a:solidFill>
            <a:ln w="12700">
              <a:solidFill>
                <a:srgbClr val="00BCD4"/>
              </a:solidFill>
              <a:prstDash val="solid"/>
            </a:ln>
            <a:effectLst>
              <a:outerShdw blurRad="101600" dist="38100" dir="2700000" algn="bl" rotWithShape="0">
                <a:srgbClr val="000000">
                  <a:alpha val="12000"/>
                </a:srgbClr>
              </a:outerShdw>
            </a:effectLst>
          </p:spPr>
        </p:sp>
        <p:sp>
          <p:nvSpPr>
            <p:cNvPr id="23" name="Text 19"/>
            <p:cNvSpPr/>
            <p:nvPr/>
          </p:nvSpPr>
          <p:spPr>
            <a:xfrm>
              <a:off x="1943" y="6378"/>
              <a:ext cx="6333" cy="632"/>
            </a:xfrm>
            <a:prstGeom prst="rect">
              <a:avLst/>
            </a:prstGeom>
            <a:noFill/>
          </p:spPr>
          <p:txBody>
            <a:bodyPr wrap="square" rtlCol="0" anchor="ctr"/>
            <a:lstStyle/>
            <a:p>
              <a:pPr marL="0" indent="0">
                <a:buNone/>
              </a:pPr>
              <a:r>
                <a:rPr lang="en-US" sz="1200" b="1" dirty="0">
                  <a:solidFill>
                    <a:srgbClr val="1565C0"/>
                  </a:solidFill>
                  <a:latin typeface="Calibri" panose="020F0502020204030204" pitchFamily="34" charset="0"/>
                  <a:ea typeface="Calibri" panose="020F0502020204030204" pitchFamily="34" charset="-122"/>
                  <a:cs typeface="Calibri" panose="020F0502020204030204" pitchFamily="34" charset="-120"/>
                </a:rPr>
                <a:t>🔍  Job Text Analyzer</a:t>
              </a:r>
              <a:endParaRPr lang="en-US" sz="1200" dirty="0"/>
            </a:p>
          </p:txBody>
        </p:sp>
        <p:sp>
          <p:nvSpPr>
            <p:cNvPr id="24" name="Text 20"/>
            <p:cNvSpPr/>
            <p:nvPr/>
          </p:nvSpPr>
          <p:spPr>
            <a:xfrm>
              <a:off x="1943" y="7009"/>
              <a:ext cx="6333" cy="1081"/>
            </a:xfrm>
            <a:prstGeom prst="rect">
              <a:avLst/>
            </a:prstGeom>
            <a:noFill/>
          </p:spPr>
          <p:txBody>
            <a:bodyPr wrap="square" rtlCol="0" anchor="ctr"/>
            <a:lstStyle/>
            <a:p>
              <a:pPr marL="0" indent="0">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Paste any job posting — ML model gives fraud probability + 🟢🟡🔴 risk level instantly</a:t>
              </a:r>
              <a:endParaRPr lang="en-US" sz="1000" dirty="0"/>
            </a:p>
          </p:txBody>
        </p:sp>
        <p:sp>
          <p:nvSpPr>
            <p:cNvPr id="25" name="Shape 21"/>
            <p:cNvSpPr/>
            <p:nvPr/>
          </p:nvSpPr>
          <p:spPr>
            <a:xfrm>
              <a:off x="8955" y="6245"/>
              <a:ext cx="6786" cy="1962"/>
            </a:xfrm>
            <a:prstGeom prst="roundRect">
              <a:avLst>
                <a:gd name="adj" fmla="val 8475"/>
              </a:avLst>
            </a:prstGeom>
            <a:solidFill>
              <a:srgbClr val="F8FBFF"/>
            </a:solidFill>
            <a:ln w="12700">
              <a:solidFill>
                <a:srgbClr val="00BCD4"/>
              </a:solidFill>
              <a:prstDash val="solid"/>
            </a:ln>
            <a:effectLst>
              <a:outerShdw blurRad="101600" dist="38100" dir="2700000" algn="bl" rotWithShape="0">
                <a:srgbClr val="000000">
                  <a:alpha val="12000"/>
                </a:srgbClr>
              </a:outerShdw>
            </a:effectLst>
          </p:spPr>
        </p:sp>
        <p:sp>
          <p:nvSpPr>
            <p:cNvPr id="26" name="Text 22"/>
            <p:cNvSpPr/>
            <p:nvPr/>
          </p:nvSpPr>
          <p:spPr>
            <a:xfrm>
              <a:off x="9181" y="6378"/>
              <a:ext cx="6333" cy="632"/>
            </a:xfrm>
            <a:prstGeom prst="rect">
              <a:avLst/>
            </a:prstGeom>
            <a:noFill/>
          </p:spPr>
          <p:txBody>
            <a:bodyPr wrap="square" rtlCol="0" anchor="ctr"/>
            <a:lstStyle/>
            <a:p>
              <a:pPr marL="0" indent="0">
                <a:buNone/>
              </a:pPr>
              <a:r>
                <a:rPr lang="en-US" sz="1200" b="1" dirty="0">
                  <a:solidFill>
                    <a:srgbClr val="1565C0"/>
                  </a:solidFill>
                  <a:latin typeface="Calibri" panose="020F0502020204030204" pitchFamily="34" charset="0"/>
                  <a:ea typeface="Calibri" panose="020F0502020204030204" pitchFamily="34" charset="-122"/>
                  <a:cs typeface="Calibri" panose="020F0502020204030204" pitchFamily="34" charset="-120"/>
                </a:rPr>
                <a:t>📧  Email &amp; Offer Letter Scanner</a:t>
              </a:r>
              <a:endParaRPr lang="en-US" sz="1200" dirty="0"/>
            </a:p>
          </p:txBody>
        </p:sp>
        <p:sp>
          <p:nvSpPr>
            <p:cNvPr id="27" name="Text 23"/>
            <p:cNvSpPr/>
            <p:nvPr/>
          </p:nvSpPr>
          <p:spPr>
            <a:xfrm>
              <a:off x="9181" y="7009"/>
              <a:ext cx="6333" cy="1081"/>
            </a:xfrm>
            <a:prstGeom prst="rect">
              <a:avLst/>
            </a:prstGeom>
            <a:noFill/>
          </p:spPr>
          <p:txBody>
            <a:bodyPr wrap="square" rtlCol="0" anchor="ctr"/>
            <a:lstStyle/>
            <a:p>
              <a:pPr marL="0" indent="0">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Upload screenshot of job email or offer letter — Gemini Vision analyzes for scam indicators</a:t>
              </a:r>
              <a:endParaRPr lang="en-US" sz="1000" dirty="0"/>
            </a:p>
          </p:txBody>
        </p:sp>
        <p:sp>
          <p:nvSpPr>
            <p:cNvPr id="28" name="Shape 24"/>
            <p:cNvSpPr/>
            <p:nvPr/>
          </p:nvSpPr>
          <p:spPr>
            <a:xfrm>
              <a:off x="1717" y="8406"/>
              <a:ext cx="6786" cy="1962"/>
            </a:xfrm>
            <a:prstGeom prst="roundRect">
              <a:avLst>
                <a:gd name="adj" fmla="val 8475"/>
              </a:avLst>
            </a:prstGeom>
            <a:solidFill>
              <a:srgbClr val="F8FBFF"/>
            </a:solidFill>
            <a:ln w="12700">
              <a:solidFill>
                <a:srgbClr val="00BCD4"/>
              </a:solidFill>
              <a:prstDash val="solid"/>
            </a:ln>
            <a:effectLst>
              <a:outerShdw blurRad="101600" dist="38100" dir="2700000" algn="bl" rotWithShape="0">
                <a:srgbClr val="000000">
                  <a:alpha val="12000"/>
                </a:srgbClr>
              </a:outerShdw>
            </a:effectLst>
          </p:spPr>
        </p:sp>
        <p:sp>
          <p:nvSpPr>
            <p:cNvPr id="29" name="Text 25"/>
            <p:cNvSpPr/>
            <p:nvPr/>
          </p:nvSpPr>
          <p:spPr>
            <a:xfrm>
              <a:off x="1943" y="8539"/>
              <a:ext cx="6333" cy="632"/>
            </a:xfrm>
            <a:prstGeom prst="rect">
              <a:avLst/>
            </a:prstGeom>
            <a:noFill/>
          </p:spPr>
          <p:txBody>
            <a:bodyPr wrap="square" rtlCol="0" anchor="ctr"/>
            <a:lstStyle/>
            <a:p>
              <a:pPr marL="0" indent="0">
                <a:buNone/>
              </a:pPr>
              <a:r>
                <a:rPr lang="en-US" sz="1200" b="1" dirty="0">
                  <a:solidFill>
                    <a:srgbClr val="1565C0"/>
                  </a:solidFill>
                  <a:latin typeface="Calibri" panose="020F0502020204030204" pitchFamily="34" charset="0"/>
                  <a:ea typeface="Calibri" panose="020F0502020204030204" pitchFamily="34" charset="-122"/>
                  <a:cs typeface="Calibri" panose="020F0502020204030204" pitchFamily="34" charset="-120"/>
                </a:rPr>
                <a:t>🏢  Company Reputation Checker</a:t>
              </a:r>
              <a:endParaRPr lang="en-US" sz="1200" dirty="0"/>
            </a:p>
          </p:txBody>
        </p:sp>
        <p:sp>
          <p:nvSpPr>
            <p:cNvPr id="30" name="Text 26"/>
            <p:cNvSpPr/>
            <p:nvPr/>
          </p:nvSpPr>
          <p:spPr>
            <a:xfrm>
              <a:off x="1943" y="9171"/>
              <a:ext cx="6333" cy="1081"/>
            </a:xfrm>
            <a:prstGeom prst="rect">
              <a:avLst/>
            </a:prstGeom>
            <a:noFill/>
          </p:spPr>
          <p:txBody>
            <a:bodyPr wrap="square" rtlCol="0" anchor="ctr"/>
            <a:lstStyle/>
            <a:p>
              <a:pPr marL="0" indent="0">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Enter company name or recruiter email — AI gives step-by-step verification guidance</a:t>
              </a:r>
              <a:endParaRPr lang="en-US" sz="1000" dirty="0"/>
            </a:p>
          </p:txBody>
        </p:sp>
        <p:sp>
          <p:nvSpPr>
            <p:cNvPr id="31" name="Shape 27"/>
            <p:cNvSpPr/>
            <p:nvPr/>
          </p:nvSpPr>
          <p:spPr>
            <a:xfrm>
              <a:off x="8955" y="8406"/>
              <a:ext cx="6786" cy="1962"/>
            </a:xfrm>
            <a:prstGeom prst="roundRect">
              <a:avLst>
                <a:gd name="adj" fmla="val 8475"/>
              </a:avLst>
            </a:prstGeom>
            <a:solidFill>
              <a:srgbClr val="F8FBFF"/>
            </a:solidFill>
            <a:ln w="12700">
              <a:solidFill>
                <a:srgbClr val="00BCD4"/>
              </a:solidFill>
              <a:prstDash val="solid"/>
            </a:ln>
            <a:effectLst>
              <a:outerShdw blurRad="101600" dist="38100" dir="2700000" algn="bl" rotWithShape="0">
                <a:srgbClr val="000000">
                  <a:alpha val="12000"/>
                </a:srgbClr>
              </a:outerShdw>
            </a:effectLst>
          </p:spPr>
        </p:sp>
        <p:sp>
          <p:nvSpPr>
            <p:cNvPr id="32" name="Text 28"/>
            <p:cNvSpPr/>
            <p:nvPr/>
          </p:nvSpPr>
          <p:spPr>
            <a:xfrm>
              <a:off x="9181" y="8539"/>
              <a:ext cx="6333" cy="632"/>
            </a:xfrm>
            <a:prstGeom prst="rect">
              <a:avLst/>
            </a:prstGeom>
            <a:noFill/>
          </p:spPr>
          <p:txBody>
            <a:bodyPr wrap="square" rtlCol="0" anchor="ctr"/>
            <a:lstStyle/>
            <a:p>
              <a:pPr marL="0" indent="0">
                <a:buNone/>
              </a:pPr>
              <a:r>
                <a:rPr lang="en-US" sz="1200" b="1" dirty="0">
                  <a:solidFill>
                    <a:srgbClr val="1565C0"/>
                  </a:solidFill>
                  <a:latin typeface="Calibri" panose="020F0502020204030204" pitchFamily="34" charset="0"/>
                  <a:ea typeface="Calibri" panose="020F0502020204030204" pitchFamily="34" charset="-122"/>
                  <a:cs typeface="Calibri" panose="020F0502020204030204" pitchFamily="34" charset="-120"/>
                </a:rPr>
                <a:t>📚  Scam Safety Guide</a:t>
              </a:r>
              <a:endParaRPr lang="en-US" sz="1200" dirty="0"/>
            </a:p>
          </p:txBody>
        </p:sp>
        <p:sp>
          <p:nvSpPr>
            <p:cNvPr id="33" name="Text 29"/>
            <p:cNvSpPr/>
            <p:nvPr/>
          </p:nvSpPr>
          <p:spPr>
            <a:xfrm>
              <a:off x="9181" y="9171"/>
              <a:ext cx="6333" cy="1081"/>
            </a:xfrm>
            <a:prstGeom prst="rect">
              <a:avLst/>
            </a:prstGeom>
            <a:noFill/>
          </p:spPr>
          <p:txBody>
            <a:bodyPr wrap="square" rtlCol="0" anchor="ctr"/>
            <a:lstStyle/>
            <a:p>
              <a:pPr marL="0" indent="0">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Complete guide on common scam types in India, red flag phrases, and where to report</a:t>
              </a:r>
              <a:endParaRPr lang="en-US" sz="10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panose="020B0604020202020204"/>
                <a:ea typeface="+mj-lt"/>
                <a:cs typeface="Arial" panose="020B0604020202020204"/>
              </a:rPr>
              <a:t>System  Approach</a:t>
            </a:r>
            <a:endParaRPr lang="en-US" sz="4400">
              <a:solidFill>
                <a:schemeClr val="accent1"/>
              </a:solidFill>
              <a:latin typeface="Calibri Light" panose="020F0302020204030204"/>
              <a:cs typeface="Calibri Light" panose="020F0302020204030204"/>
            </a:endParaRPr>
          </a:p>
        </p:txBody>
      </p:sp>
      <p:sp>
        <p:nvSpPr>
          <p:cNvPr id="2" name="Content Placeholder 1"/>
          <p:cNvSpPr/>
          <p:nvPr>
            <p:ph idx="1"/>
          </p:nvPr>
        </p:nvSpPr>
        <p:spPr/>
        <p:txBody>
          <a:bodyPr/>
          <a:p>
            <a:pPr marL="0" indent="0">
              <a:buNone/>
            </a:pPr>
            <a:r>
              <a:rPr lang="en-US"/>
              <a:t>  </a:t>
            </a:r>
            <a:endParaRPr lang="en-US"/>
          </a:p>
        </p:txBody>
      </p:sp>
      <p:sp>
        <p:nvSpPr>
          <p:cNvPr id="6" name="Text 1"/>
          <p:cNvSpPr/>
          <p:nvPr/>
        </p:nvSpPr>
        <p:spPr>
          <a:xfrm>
            <a:off x="457200" y="91440"/>
            <a:ext cx="8229600" cy="457200"/>
          </a:xfrm>
          <a:prstGeom prst="rect">
            <a:avLst/>
          </a:prstGeom>
          <a:noFill/>
        </p:spPr>
        <p:txBody>
          <a:bodyPr wrap="square" rtlCol="0" anchor="ctr"/>
          <a:lstStyle/>
          <a:p>
            <a:pPr marL="0" indent="0">
              <a:buNone/>
            </a:pPr>
            <a:r>
              <a:rPr lang="en-US" sz="26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SYSTEM APPROACH</a:t>
            </a:r>
            <a:endParaRPr lang="en-US" sz="2600" dirty="0"/>
          </a:p>
        </p:txBody>
      </p:sp>
      <p:sp>
        <p:nvSpPr>
          <p:cNvPr id="7" name="Text 2"/>
          <p:cNvSpPr/>
          <p:nvPr/>
        </p:nvSpPr>
        <p:spPr>
          <a:xfrm>
            <a:off x="581025" y="1078992"/>
            <a:ext cx="8229600" cy="347472"/>
          </a:xfrm>
          <a:prstGeom prst="rect">
            <a:avLst/>
          </a:prstGeom>
          <a:noFill/>
        </p:spPr>
        <p:txBody>
          <a:bodyPr wrap="square" rtlCol="0" anchor="ctr"/>
          <a:lstStyle/>
          <a:p>
            <a:pPr marL="0" indent="0">
              <a:buNone/>
            </a:pPr>
            <a:r>
              <a:rPr lang="en-US" sz="1300" i="1" dirty="0">
                <a:solidFill>
                  <a:srgbClr val="00BCD4"/>
                </a:solidFill>
                <a:latin typeface="Calibri" panose="020F0502020204030204" pitchFamily="34" charset="0"/>
                <a:ea typeface="Calibri" panose="020F0502020204030204" pitchFamily="34" charset="-122"/>
                <a:cs typeface="Calibri" panose="020F0502020204030204" pitchFamily="34" charset="-120"/>
              </a:rPr>
              <a:t>Technology stack, architecture, and libraries used to build the system</a:t>
            </a:r>
            <a:endParaRPr lang="en-US" sz="1300" dirty="0"/>
          </a:p>
        </p:txBody>
      </p:sp>
      <p:sp>
        <p:nvSpPr>
          <p:cNvPr id="8" name="Text 3"/>
          <p:cNvSpPr/>
          <p:nvPr/>
        </p:nvSpPr>
        <p:spPr>
          <a:xfrm>
            <a:off x="457200" y="1301750"/>
            <a:ext cx="4323715" cy="360680"/>
          </a:xfrm>
          <a:prstGeom prst="rect">
            <a:avLst/>
          </a:prstGeom>
          <a:noFill/>
        </p:spPr>
        <p:txBody>
          <a:bodyPr wrap="square" rtlCol="0" anchor="ctr"/>
          <a:lstStyle/>
          <a:p>
            <a:pPr marL="0" indent="0">
              <a:buNone/>
            </a:pPr>
            <a:r>
              <a:rPr lang="en-US" sz="1400" b="1" dirty="0">
                <a:solidFill>
                  <a:srgbClr val="1565C0"/>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400" dirty="0"/>
          </a:p>
        </p:txBody>
      </p:sp>
      <p:grpSp>
        <p:nvGrpSpPr>
          <p:cNvPr id="48" name="Group 47"/>
          <p:cNvGrpSpPr/>
          <p:nvPr/>
        </p:nvGrpSpPr>
        <p:grpSpPr>
          <a:xfrm>
            <a:off x="457200" y="1706880"/>
            <a:ext cx="5028565" cy="4271645"/>
            <a:chOff x="576" y="2376"/>
            <a:chExt cx="6624" cy="4882"/>
          </a:xfrm>
        </p:grpSpPr>
        <p:sp>
          <p:nvSpPr>
            <p:cNvPr id="9" name="Shape 4"/>
            <p:cNvSpPr/>
            <p:nvPr/>
          </p:nvSpPr>
          <p:spPr>
            <a:xfrm>
              <a:off x="576" y="2376"/>
              <a:ext cx="6624" cy="1080"/>
            </a:xfrm>
            <a:prstGeom prst="roundRect">
              <a:avLst>
                <a:gd name="adj" fmla="val 10667"/>
              </a:avLst>
            </a:prstGeom>
            <a:solidFill>
              <a:srgbClr val="E3F2FD"/>
            </a:solidFill>
            <a:ln w="12700">
              <a:solidFill>
                <a:srgbClr val="00BCD4"/>
              </a:solidFill>
              <a:prstDash val="solid"/>
            </a:ln>
          </p:spPr>
        </p:sp>
        <p:sp>
          <p:nvSpPr>
            <p:cNvPr id="10" name="Text 5"/>
            <p:cNvSpPr/>
            <p:nvPr/>
          </p:nvSpPr>
          <p:spPr>
            <a:xfrm>
              <a:off x="720" y="2462"/>
              <a:ext cx="1584" cy="432"/>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Frontend</a:t>
              </a:r>
              <a:endParaRPr lang="en-US" sz="1000" dirty="0"/>
            </a:p>
          </p:txBody>
        </p:sp>
        <p:sp>
          <p:nvSpPr>
            <p:cNvPr id="11" name="Text 6"/>
            <p:cNvSpPr/>
            <p:nvPr/>
          </p:nvSpPr>
          <p:spPr>
            <a:xfrm>
              <a:off x="720" y="2866"/>
              <a:ext cx="6336" cy="49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Streamlit (Python) — Web UI with 6 tabs, sidebar, metrics</a:t>
              </a:r>
              <a:endParaRPr lang="en-US" sz="1000" dirty="0"/>
            </a:p>
          </p:txBody>
        </p:sp>
        <p:sp>
          <p:nvSpPr>
            <p:cNvPr id="12" name="Shape 7"/>
            <p:cNvSpPr/>
            <p:nvPr/>
          </p:nvSpPr>
          <p:spPr>
            <a:xfrm>
              <a:off x="576" y="3643"/>
              <a:ext cx="6624" cy="1080"/>
            </a:xfrm>
            <a:prstGeom prst="roundRect">
              <a:avLst>
                <a:gd name="adj" fmla="val 10667"/>
              </a:avLst>
            </a:prstGeom>
            <a:solidFill>
              <a:srgbClr val="E8F5E9"/>
            </a:solidFill>
            <a:ln w="12700">
              <a:solidFill>
                <a:srgbClr val="00BCD4"/>
              </a:solidFill>
              <a:prstDash val="solid"/>
            </a:ln>
          </p:spPr>
        </p:sp>
        <p:sp>
          <p:nvSpPr>
            <p:cNvPr id="13" name="Text 8"/>
            <p:cNvSpPr/>
            <p:nvPr/>
          </p:nvSpPr>
          <p:spPr>
            <a:xfrm>
              <a:off x="720" y="3730"/>
              <a:ext cx="1584" cy="432"/>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ML Backend</a:t>
              </a:r>
              <a:endParaRPr lang="en-US" sz="1000" dirty="0"/>
            </a:p>
          </p:txBody>
        </p:sp>
        <p:sp>
          <p:nvSpPr>
            <p:cNvPr id="14" name="Text 9"/>
            <p:cNvSpPr/>
            <p:nvPr/>
          </p:nvSpPr>
          <p:spPr>
            <a:xfrm>
              <a:off x="720" y="4133"/>
              <a:ext cx="6336" cy="49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Logistic Regression + TF-IDF(Google Colab) — Trained on 14,107 job postings</a:t>
              </a:r>
              <a:endParaRPr lang="en-US" sz="1000" dirty="0"/>
            </a:p>
          </p:txBody>
        </p:sp>
        <p:sp>
          <p:nvSpPr>
            <p:cNvPr id="15" name="Shape 10"/>
            <p:cNvSpPr/>
            <p:nvPr/>
          </p:nvSpPr>
          <p:spPr>
            <a:xfrm>
              <a:off x="576" y="4910"/>
              <a:ext cx="6624" cy="1080"/>
            </a:xfrm>
            <a:prstGeom prst="roundRect">
              <a:avLst>
                <a:gd name="adj" fmla="val 10667"/>
              </a:avLst>
            </a:prstGeom>
            <a:solidFill>
              <a:srgbClr val="FFF3E0"/>
            </a:solidFill>
            <a:ln w="12700">
              <a:solidFill>
                <a:srgbClr val="00BCD4"/>
              </a:solidFill>
              <a:prstDash val="solid"/>
            </a:ln>
          </p:spPr>
        </p:sp>
        <p:sp>
          <p:nvSpPr>
            <p:cNvPr id="16" name="Text 11"/>
            <p:cNvSpPr/>
            <p:nvPr/>
          </p:nvSpPr>
          <p:spPr>
            <a:xfrm>
              <a:off x="720" y="4997"/>
              <a:ext cx="1584" cy="432"/>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AI Backend</a:t>
              </a:r>
              <a:endParaRPr lang="en-US" sz="1000" dirty="0"/>
            </a:p>
          </p:txBody>
        </p:sp>
        <p:sp>
          <p:nvSpPr>
            <p:cNvPr id="17" name="Text 12"/>
            <p:cNvSpPr/>
            <p:nvPr/>
          </p:nvSpPr>
          <p:spPr>
            <a:xfrm>
              <a:off x="720" y="5400"/>
              <a:ext cx="6336" cy="49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Google Gemini 2.0 Flash API — Text &amp; image analysis</a:t>
              </a:r>
              <a:endParaRPr lang="en-US" sz="1000" dirty="0"/>
            </a:p>
          </p:txBody>
        </p:sp>
        <p:sp>
          <p:nvSpPr>
            <p:cNvPr id="18" name="Shape 13"/>
            <p:cNvSpPr/>
            <p:nvPr/>
          </p:nvSpPr>
          <p:spPr>
            <a:xfrm>
              <a:off x="576" y="6178"/>
              <a:ext cx="6624" cy="1080"/>
            </a:xfrm>
            <a:prstGeom prst="roundRect">
              <a:avLst>
                <a:gd name="adj" fmla="val 10667"/>
              </a:avLst>
            </a:prstGeom>
            <a:solidFill>
              <a:srgbClr val="FCE4EC"/>
            </a:solidFill>
            <a:ln w="12700">
              <a:solidFill>
                <a:srgbClr val="00BCD4"/>
              </a:solidFill>
              <a:prstDash val="solid"/>
            </a:ln>
          </p:spPr>
        </p:sp>
        <p:sp>
          <p:nvSpPr>
            <p:cNvPr id="19" name="Text 14"/>
            <p:cNvSpPr/>
            <p:nvPr/>
          </p:nvSpPr>
          <p:spPr>
            <a:xfrm>
              <a:off x="720" y="6264"/>
              <a:ext cx="1584" cy="432"/>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Dataset</a:t>
              </a:r>
              <a:endParaRPr lang="en-US" sz="1000" dirty="0"/>
            </a:p>
          </p:txBody>
        </p:sp>
        <p:sp>
          <p:nvSpPr>
            <p:cNvPr id="20" name="Text 15"/>
            <p:cNvSpPr/>
            <p:nvPr/>
          </p:nvSpPr>
          <p:spPr>
            <a:xfrm>
              <a:off x="720" y="6667"/>
              <a:ext cx="6336" cy="49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EMSCAD — Employment Scam Aegean Dataset (Kaggle)</a:t>
              </a:r>
              <a:endParaRPr lang="en-US" sz="1000" dirty="0"/>
            </a:p>
          </p:txBody>
        </p:sp>
      </p:grpSp>
      <p:sp>
        <p:nvSpPr>
          <p:cNvPr id="21" name="Text 16"/>
          <p:cNvSpPr/>
          <p:nvPr/>
        </p:nvSpPr>
        <p:spPr>
          <a:xfrm>
            <a:off x="6404610" y="1301877"/>
            <a:ext cx="3931920" cy="347472"/>
          </a:xfrm>
          <a:prstGeom prst="rect">
            <a:avLst/>
          </a:prstGeom>
          <a:noFill/>
        </p:spPr>
        <p:txBody>
          <a:bodyPr wrap="square" rtlCol="0" anchor="ctr"/>
          <a:lstStyle/>
          <a:p>
            <a:pPr marL="0" indent="0">
              <a:buNone/>
            </a:pPr>
            <a:r>
              <a:rPr lang="en-US" sz="1400" b="1" dirty="0">
                <a:solidFill>
                  <a:srgbClr val="1565C0"/>
                </a:solidFill>
                <a:latin typeface="Calibri" panose="020F0502020204030204" pitchFamily="34" charset="0"/>
                <a:ea typeface="Calibri" panose="020F0502020204030204" pitchFamily="34" charset="-122"/>
                <a:cs typeface="Calibri" panose="020F0502020204030204" pitchFamily="34" charset="-120"/>
              </a:rPr>
              <a:t>Libraries &amp; Tools</a:t>
            </a:r>
            <a:endParaRPr lang="en-US" sz="1400" dirty="0"/>
          </a:p>
        </p:txBody>
      </p:sp>
      <p:grpSp>
        <p:nvGrpSpPr>
          <p:cNvPr id="50" name="Group 49"/>
          <p:cNvGrpSpPr/>
          <p:nvPr/>
        </p:nvGrpSpPr>
        <p:grpSpPr>
          <a:xfrm>
            <a:off x="6389370" y="1825625"/>
            <a:ext cx="5222240" cy="4149090"/>
            <a:chOff x="7632" y="2376"/>
            <a:chExt cx="5976" cy="4882"/>
          </a:xfrm>
        </p:grpSpPr>
        <p:sp>
          <p:nvSpPr>
            <p:cNvPr id="22" name="Shape 17"/>
            <p:cNvSpPr/>
            <p:nvPr/>
          </p:nvSpPr>
          <p:spPr>
            <a:xfrm>
              <a:off x="7632" y="2376"/>
              <a:ext cx="2880" cy="1080"/>
            </a:xfrm>
            <a:prstGeom prst="roundRect">
              <a:avLst>
                <a:gd name="adj" fmla="val 10667"/>
              </a:avLst>
            </a:prstGeom>
            <a:solidFill>
              <a:srgbClr val="E3F2FD"/>
            </a:solidFill>
            <a:ln w="12700">
              <a:solidFill>
                <a:srgbClr val="1565C0"/>
              </a:solidFill>
              <a:prstDash val="solid"/>
            </a:ln>
            <a:effectLst>
              <a:outerShdw blurRad="101600" dist="38100" dir="2700000" algn="bl" rotWithShape="0">
                <a:srgbClr val="000000">
                  <a:alpha val="12000"/>
                </a:srgbClr>
              </a:outerShdw>
            </a:effectLst>
          </p:spPr>
        </p:sp>
        <p:sp>
          <p:nvSpPr>
            <p:cNvPr id="28" name="Shape 23"/>
            <p:cNvSpPr/>
            <p:nvPr/>
          </p:nvSpPr>
          <p:spPr>
            <a:xfrm>
              <a:off x="7632" y="3643"/>
              <a:ext cx="2880" cy="1080"/>
            </a:xfrm>
            <a:prstGeom prst="roundRect">
              <a:avLst>
                <a:gd name="adj" fmla="val 10667"/>
              </a:avLst>
            </a:prstGeom>
            <a:solidFill>
              <a:srgbClr val="E3F2FD"/>
            </a:solidFill>
            <a:ln w="12700">
              <a:solidFill>
                <a:srgbClr val="1565C0"/>
              </a:solidFill>
              <a:prstDash val="solid"/>
            </a:ln>
            <a:effectLst>
              <a:outerShdw blurRad="101600" dist="38100" dir="2700000" algn="bl" rotWithShape="0">
                <a:srgbClr val="000000">
                  <a:alpha val="12000"/>
                </a:srgbClr>
              </a:outerShdw>
            </a:effectLst>
          </p:spPr>
        </p:sp>
        <p:sp>
          <p:nvSpPr>
            <p:cNvPr id="34" name="Shape 29"/>
            <p:cNvSpPr/>
            <p:nvPr/>
          </p:nvSpPr>
          <p:spPr>
            <a:xfrm>
              <a:off x="7632" y="4910"/>
              <a:ext cx="2880" cy="1080"/>
            </a:xfrm>
            <a:prstGeom prst="roundRect">
              <a:avLst>
                <a:gd name="adj" fmla="val 10667"/>
              </a:avLst>
            </a:prstGeom>
            <a:solidFill>
              <a:srgbClr val="E3F2FD"/>
            </a:solidFill>
            <a:ln w="12700">
              <a:solidFill>
                <a:srgbClr val="1565C0"/>
              </a:solidFill>
              <a:prstDash val="solid"/>
            </a:ln>
            <a:effectLst>
              <a:outerShdw blurRad="101600" dist="38100" dir="2700000" algn="bl" rotWithShape="0">
                <a:srgbClr val="000000">
                  <a:alpha val="12000"/>
                </a:srgbClr>
              </a:outerShdw>
            </a:effectLst>
          </p:spPr>
        </p:sp>
        <p:sp>
          <p:nvSpPr>
            <p:cNvPr id="40" name="Shape 35"/>
            <p:cNvSpPr/>
            <p:nvPr/>
          </p:nvSpPr>
          <p:spPr>
            <a:xfrm>
              <a:off x="7632" y="6178"/>
              <a:ext cx="2880" cy="1080"/>
            </a:xfrm>
            <a:prstGeom prst="roundRect">
              <a:avLst>
                <a:gd name="adj" fmla="val 10667"/>
              </a:avLst>
            </a:prstGeom>
            <a:solidFill>
              <a:srgbClr val="E3F2FD"/>
            </a:solidFill>
            <a:ln w="12700">
              <a:solidFill>
                <a:srgbClr val="1565C0"/>
              </a:solidFill>
              <a:prstDash val="solid"/>
            </a:ln>
            <a:effectLst>
              <a:outerShdw blurRad="101600" dist="38100" dir="2700000" algn="bl" rotWithShape="0">
                <a:srgbClr val="000000">
                  <a:alpha val="12000"/>
                </a:srgbClr>
              </a:outerShdw>
            </a:effectLst>
          </p:spPr>
        </p:sp>
        <p:sp>
          <p:nvSpPr>
            <p:cNvPr id="23" name="Text 18"/>
            <p:cNvSpPr/>
            <p:nvPr/>
          </p:nvSpPr>
          <p:spPr>
            <a:xfrm>
              <a:off x="7776" y="2448"/>
              <a:ext cx="2592" cy="43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streamlit</a:t>
              </a:r>
              <a:endParaRPr lang="en-US" sz="1000" dirty="0"/>
            </a:p>
          </p:txBody>
        </p:sp>
        <p:sp>
          <p:nvSpPr>
            <p:cNvPr id="24" name="Text 19"/>
            <p:cNvSpPr/>
            <p:nvPr/>
          </p:nvSpPr>
          <p:spPr>
            <a:xfrm>
              <a:off x="7776" y="2894"/>
              <a:ext cx="2592" cy="461"/>
            </a:xfrm>
            <a:prstGeom prst="rect">
              <a:avLst/>
            </a:prstGeom>
            <a:noFill/>
          </p:spPr>
          <p:txBody>
            <a:bodyPr wrap="square" rtlCol="0" anchor="ctr"/>
            <a:lstStyle/>
            <a:p>
              <a:pPr marL="0" indent="0">
                <a:buNone/>
              </a:pPr>
              <a:r>
                <a:rPr lang="en-US" sz="900" dirty="0">
                  <a:solidFill>
                    <a:srgbClr val="455A64"/>
                  </a:solidFill>
                  <a:latin typeface="Calibri" panose="020F0502020204030204" pitchFamily="34" charset="0"/>
                  <a:ea typeface="Calibri" panose="020F0502020204030204" pitchFamily="34" charset="-122"/>
                  <a:cs typeface="Calibri" panose="020F0502020204030204" pitchFamily="34" charset="-120"/>
                </a:rPr>
                <a:t>Web app framework</a:t>
              </a:r>
              <a:endParaRPr lang="en-US" sz="900" dirty="0"/>
            </a:p>
          </p:txBody>
        </p:sp>
        <p:sp>
          <p:nvSpPr>
            <p:cNvPr id="25" name="Shape 20"/>
            <p:cNvSpPr/>
            <p:nvPr/>
          </p:nvSpPr>
          <p:spPr>
            <a:xfrm>
              <a:off x="10728" y="2376"/>
              <a:ext cx="2880" cy="1080"/>
            </a:xfrm>
            <a:prstGeom prst="roundRect">
              <a:avLst>
                <a:gd name="adj" fmla="val 10667"/>
              </a:avLst>
            </a:prstGeom>
            <a:solidFill>
              <a:srgbClr val="E3F2FD"/>
            </a:solidFill>
            <a:ln w="12700">
              <a:solidFill>
                <a:srgbClr val="1565C0"/>
              </a:solidFill>
              <a:prstDash val="solid"/>
            </a:ln>
            <a:effectLst>
              <a:outerShdw blurRad="101600" dist="38100" dir="2700000" algn="bl" rotWithShape="0">
                <a:srgbClr val="000000">
                  <a:alpha val="12000"/>
                </a:srgbClr>
              </a:outerShdw>
            </a:effectLst>
          </p:spPr>
        </p:sp>
        <p:sp>
          <p:nvSpPr>
            <p:cNvPr id="26" name="Text 21"/>
            <p:cNvSpPr/>
            <p:nvPr/>
          </p:nvSpPr>
          <p:spPr>
            <a:xfrm>
              <a:off x="10872" y="2448"/>
              <a:ext cx="2592" cy="43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scikit-learn</a:t>
              </a:r>
              <a:endParaRPr lang="en-US" sz="1000" dirty="0"/>
            </a:p>
          </p:txBody>
        </p:sp>
        <p:sp>
          <p:nvSpPr>
            <p:cNvPr id="27" name="Text 22"/>
            <p:cNvSpPr/>
            <p:nvPr/>
          </p:nvSpPr>
          <p:spPr>
            <a:xfrm>
              <a:off x="10872" y="2894"/>
              <a:ext cx="2592" cy="461"/>
            </a:xfrm>
            <a:prstGeom prst="rect">
              <a:avLst/>
            </a:prstGeom>
            <a:noFill/>
          </p:spPr>
          <p:txBody>
            <a:bodyPr wrap="square" rtlCol="0" anchor="ctr"/>
            <a:lstStyle/>
            <a:p>
              <a:pPr marL="0" indent="0">
                <a:buNone/>
              </a:pPr>
              <a:r>
                <a:rPr lang="en-US" sz="900" dirty="0">
                  <a:solidFill>
                    <a:srgbClr val="455A64"/>
                  </a:solidFill>
                  <a:latin typeface="Calibri" panose="020F0502020204030204" pitchFamily="34" charset="0"/>
                  <a:ea typeface="Calibri" panose="020F0502020204030204" pitchFamily="34" charset="-122"/>
                  <a:cs typeface="Calibri" panose="020F0502020204030204" pitchFamily="34" charset="-120"/>
                </a:rPr>
                <a:t>ML model + TF-IDF vectorizer</a:t>
              </a:r>
              <a:endParaRPr lang="en-US" sz="900" dirty="0"/>
            </a:p>
          </p:txBody>
        </p:sp>
        <p:sp>
          <p:nvSpPr>
            <p:cNvPr id="29" name="Text 24"/>
            <p:cNvSpPr/>
            <p:nvPr/>
          </p:nvSpPr>
          <p:spPr>
            <a:xfrm>
              <a:off x="7776" y="3715"/>
              <a:ext cx="2592" cy="43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nltk</a:t>
              </a:r>
              <a:endParaRPr lang="en-US" sz="1000" dirty="0"/>
            </a:p>
          </p:txBody>
        </p:sp>
        <p:sp>
          <p:nvSpPr>
            <p:cNvPr id="30" name="Text 25"/>
            <p:cNvSpPr/>
            <p:nvPr/>
          </p:nvSpPr>
          <p:spPr>
            <a:xfrm>
              <a:off x="7776" y="4162"/>
              <a:ext cx="2592" cy="461"/>
            </a:xfrm>
            <a:prstGeom prst="rect">
              <a:avLst/>
            </a:prstGeom>
            <a:noFill/>
          </p:spPr>
          <p:txBody>
            <a:bodyPr wrap="square" rtlCol="0" anchor="ctr"/>
            <a:lstStyle/>
            <a:p>
              <a:pPr marL="0" indent="0">
                <a:buNone/>
              </a:pPr>
              <a:r>
                <a:rPr lang="en-US" sz="900" dirty="0">
                  <a:solidFill>
                    <a:srgbClr val="455A64"/>
                  </a:solidFill>
                  <a:latin typeface="Calibri" panose="020F0502020204030204" pitchFamily="34" charset="0"/>
                  <a:ea typeface="Calibri" panose="020F0502020204030204" pitchFamily="34" charset="-122"/>
                  <a:cs typeface="Calibri" panose="020F0502020204030204" pitchFamily="34" charset="-120"/>
                </a:rPr>
                <a:t>Stopword removal + NLP preprocessing</a:t>
              </a:r>
              <a:endParaRPr lang="en-US" sz="900" dirty="0"/>
            </a:p>
          </p:txBody>
        </p:sp>
        <p:sp>
          <p:nvSpPr>
            <p:cNvPr id="31" name="Shape 26"/>
            <p:cNvSpPr/>
            <p:nvPr/>
          </p:nvSpPr>
          <p:spPr>
            <a:xfrm>
              <a:off x="10728" y="3643"/>
              <a:ext cx="2880" cy="1080"/>
            </a:xfrm>
            <a:prstGeom prst="roundRect">
              <a:avLst>
                <a:gd name="adj" fmla="val 10667"/>
              </a:avLst>
            </a:prstGeom>
            <a:solidFill>
              <a:srgbClr val="E3F2FD"/>
            </a:solidFill>
            <a:ln w="12700">
              <a:solidFill>
                <a:srgbClr val="1565C0"/>
              </a:solidFill>
              <a:prstDash val="solid"/>
            </a:ln>
            <a:effectLst>
              <a:outerShdw blurRad="101600" dist="38100" dir="2700000" algn="bl" rotWithShape="0">
                <a:srgbClr val="000000">
                  <a:alpha val="12000"/>
                </a:srgbClr>
              </a:outerShdw>
            </a:effectLst>
          </p:spPr>
        </p:sp>
        <p:sp>
          <p:nvSpPr>
            <p:cNvPr id="32" name="Text 27"/>
            <p:cNvSpPr/>
            <p:nvPr/>
          </p:nvSpPr>
          <p:spPr>
            <a:xfrm>
              <a:off x="10872" y="3715"/>
              <a:ext cx="2592" cy="43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google-generativeai</a:t>
              </a:r>
              <a:endParaRPr lang="en-US" sz="1000" dirty="0"/>
            </a:p>
          </p:txBody>
        </p:sp>
        <p:sp>
          <p:nvSpPr>
            <p:cNvPr id="33" name="Text 28"/>
            <p:cNvSpPr/>
            <p:nvPr/>
          </p:nvSpPr>
          <p:spPr>
            <a:xfrm>
              <a:off x="10872" y="4162"/>
              <a:ext cx="2592" cy="461"/>
            </a:xfrm>
            <a:prstGeom prst="rect">
              <a:avLst/>
            </a:prstGeom>
            <a:noFill/>
          </p:spPr>
          <p:txBody>
            <a:bodyPr wrap="square" rtlCol="0" anchor="ctr"/>
            <a:lstStyle/>
            <a:p>
              <a:pPr marL="0" indent="0">
                <a:buNone/>
              </a:pPr>
              <a:r>
                <a:rPr lang="en-US" sz="900" dirty="0">
                  <a:solidFill>
                    <a:srgbClr val="455A64"/>
                  </a:solidFill>
                  <a:latin typeface="Calibri" panose="020F0502020204030204" pitchFamily="34" charset="0"/>
                  <a:ea typeface="Calibri" panose="020F0502020204030204" pitchFamily="34" charset="-122"/>
                  <a:cs typeface="Calibri" panose="020F0502020204030204" pitchFamily="34" charset="-120"/>
                </a:rPr>
                <a:t>Gemini API SDK</a:t>
              </a:r>
              <a:endParaRPr lang="en-US" sz="900" dirty="0"/>
            </a:p>
          </p:txBody>
        </p:sp>
        <p:sp>
          <p:nvSpPr>
            <p:cNvPr id="35" name="Text 30"/>
            <p:cNvSpPr/>
            <p:nvPr/>
          </p:nvSpPr>
          <p:spPr>
            <a:xfrm>
              <a:off x="7776" y="4982"/>
              <a:ext cx="2592" cy="43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pandas / numpy</a:t>
              </a:r>
              <a:endParaRPr lang="en-US" sz="1000" dirty="0"/>
            </a:p>
          </p:txBody>
        </p:sp>
        <p:sp>
          <p:nvSpPr>
            <p:cNvPr id="36" name="Text 31"/>
            <p:cNvSpPr/>
            <p:nvPr/>
          </p:nvSpPr>
          <p:spPr>
            <a:xfrm>
              <a:off x="7776" y="5429"/>
              <a:ext cx="2592" cy="461"/>
            </a:xfrm>
            <a:prstGeom prst="rect">
              <a:avLst/>
            </a:prstGeom>
            <a:noFill/>
          </p:spPr>
          <p:txBody>
            <a:bodyPr wrap="square" rtlCol="0" anchor="ctr"/>
            <a:lstStyle/>
            <a:p>
              <a:pPr marL="0" indent="0">
                <a:buNone/>
              </a:pPr>
              <a:r>
                <a:rPr lang="en-US" sz="900" dirty="0">
                  <a:solidFill>
                    <a:srgbClr val="455A64"/>
                  </a:solidFill>
                  <a:latin typeface="Calibri" panose="020F0502020204030204" pitchFamily="34" charset="0"/>
                  <a:ea typeface="Calibri" panose="020F0502020204030204" pitchFamily="34" charset="-122"/>
                  <a:cs typeface="Calibri" panose="020F0502020204030204" pitchFamily="34" charset="-120"/>
                </a:rPr>
                <a:t>Data handling and processing</a:t>
              </a:r>
              <a:endParaRPr lang="en-US" sz="900" dirty="0"/>
            </a:p>
          </p:txBody>
        </p:sp>
        <p:sp>
          <p:nvSpPr>
            <p:cNvPr id="37" name="Shape 32"/>
            <p:cNvSpPr/>
            <p:nvPr/>
          </p:nvSpPr>
          <p:spPr>
            <a:xfrm>
              <a:off x="10728" y="4910"/>
              <a:ext cx="2880" cy="1080"/>
            </a:xfrm>
            <a:prstGeom prst="roundRect">
              <a:avLst>
                <a:gd name="adj" fmla="val 10667"/>
              </a:avLst>
            </a:prstGeom>
            <a:solidFill>
              <a:srgbClr val="E3F2FD"/>
            </a:solidFill>
            <a:ln w="12700">
              <a:solidFill>
                <a:srgbClr val="1565C0"/>
              </a:solidFill>
              <a:prstDash val="solid"/>
            </a:ln>
            <a:effectLst>
              <a:outerShdw blurRad="101600" dist="38100" dir="2700000" algn="bl" rotWithShape="0">
                <a:srgbClr val="000000">
                  <a:alpha val="12000"/>
                </a:srgbClr>
              </a:outerShdw>
            </a:effectLst>
          </p:spPr>
        </p:sp>
        <p:sp>
          <p:nvSpPr>
            <p:cNvPr id="38" name="Text 33"/>
            <p:cNvSpPr/>
            <p:nvPr/>
          </p:nvSpPr>
          <p:spPr>
            <a:xfrm>
              <a:off x="10872" y="4982"/>
              <a:ext cx="2592" cy="43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Pillow (PIL)</a:t>
              </a:r>
              <a:endParaRPr lang="en-US" sz="1000" dirty="0"/>
            </a:p>
          </p:txBody>
        </p:sp>
        <p:sp>
          <p:nvSpPr>
            <p:cNvPr id="39" name="Text 34"/>
            <p:cNvSpPr/>
            <p:nvPr/>
          </p:nvSpPr>
          <p:spPr>
            <a:xfrm>
              <a:off x="10872" y="5429"/>
              <a:ext cx="2592" cy="461"/>
            </a:xfrm>
            <a:prstGeom prst="rect">
              <a:avLst/>
            </a:prstGeom>
            <a:noFill/>
          </p:spPr>
          <p:txBody>
            <a:bodyPr wrap="square" rtlCol="0" anchor="ctr"/>
            <a:lstStyle/>
            <a:p>
              <a:pPr marL="0" indent="0">
                <a:buNone/>
              </a:pPr>
              <a:r>
                <a:rPr lang="en-US" sz="900" dirty="0">
                  <a:solidFill>
                    <a:srgbClr val="455A64"/>
                  </a:solidFill>
                  <a:latin typeface="Calibri" panose="020F0502020204030204" pitchFamily="34" charset="0"/>
                  <a:ea typeface="Calibri" panose="020F0502020204030204" pitchFamily="34" charset="-122"/>
                  <a:cs typeface="Calibri" panose="020F0502020204030204" pitchFamily="34" charset="-120"/>
                </a:rPr>
                <a:t>Image processing for vision tab</a:t>
              </a:r>
              <a:endParaRPr lang="en-US" sz="900" dirty="0"/>
            </a:p>
          </p:txBody>
        </p:sp>
        <p:sp>
          <p:nvSpPr>
            <p:cNvPr id="41" name="Text 36"/>
            <p:cNvSpPr/>
            <p:nvPr/>
          </p:nvSpPr>
          <p:spPr>
            <a:xfrm>
              <a:off x="7776" y="6250"/>
              <a:ext cx="2592" cy="43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python-dotenv</a:t>
              </a:r>
              <a:endParaRPr lang="en-US" sz="1000" dirty="0"/>
            </a:p>
          </p:txBody>
        </p:sp>
        <p:sp>
          <p:nvSpPr>
            <p:cNvPr id="42" name="Text 37"/>
            <p:cNvSpPr/>
            <p:nvPr/>
          </p:nvSpPr>
          <p:spPr>
            <a:xfrm>
              <a:off x="7776" y="6696"/>
              <a:ext cx="2592" cy="461"/>
            </a:xfrm>
            <a:prstGeom prst="rect">
              <a:avLst/>
            </a:prstGeom>
            <a:noFill/>
          </p:spPr>
          <p:txBody>
            <a:bodyPr wrap="square" rtlCol="0" anchor="ctr"/>
            <a:lstStyle/>
            <a:p>
              <a:pPr marL="0" indent="0">
                <a:buNone/>
              </a:pPr>
              <a:r>
                <a:rPr lang="en-US" sz="900" dirty="0">
                  <a:solidFill>
                    <a:srgbClr val="455A64"/>
                  </a:solidFill>
                  <a:latin typeface="Calibri" panose="020F0502020204030204" pitchFamily="34" charset="0"/>
                  <a:ea typeface="Calibri" panose="020F0502020204030204" pitchFamily="34" charset="-122"/>
                  <a:cs typeface="Calibri" panose="020F0502020204030204" pitchFamily="34" charset="-120"/>
                </a:rPr>
                <a:t>Secure API key management</a:t>
              </a:r>
              <a:endParaRPr lang="en-US" sz="900" dirty="0"/>
            </a:p>
          </p:txBody>
        </p:sp>
        <p:sp>
          <p:nvSpPr>
            <p:cNvPr id="43" name="Shape 38"/>
            <p:cNvSpPr/>
            <p:nvPr/>
          </p:nvSpPr>
          <p:spPr>
            <a:xfrm>
              <a:off x="10728" y="6178"/>
              <a:ext cx="2880" cy="1080"/>
            </a:xfrm>
            <a:prstGeom prst="roundRect">
              <a:avLst>
                <a:gd name="adj" fmla="val 10667"/>
              </a:avLst>
            </a:prstGeom>
            <a:solidFill>
              <a:srgbClr val="E3F2FD"/>
            </a:solidFill>
            <a:ln w="12700">
              <a:solidFill>
                <a:srgbClr val="1565C0"/>
              </a:solidFill>
              <a:prstDash val="solid"/>
            </a:ln>
            <a:effectLst>
              <a:outerShdw blurRad="101600" dist="38100" dir="2700000" algn="bl" rotWithShape="0">
                <a:srgbClr val="000000">
                  <a:alpha val="12000"/>
                </a:srgbClr>
              </a:outerShdw>
            </a:effectLst>
          </p:spPr>
        </p:sp>
        <p:sp>
          <p:nvSpPr>
            <p:cNvPr id="44" name="Text 39"/>
            <p:cNvSpPr/>
            <p:nvPr/>
          </p:nvSpPr>
          <p:spPr>
            <a:xfrm>
              <a:off x="10872" y="6250"/>
              <a:ext cx="2592" cy="432"/>
            </a:xfrm>
            <a:prstGeom prst="rect">
              <a:avLst/>
            </a:prstGeom>
            <a:noFill/>
          </p:spPr>
          <p:txBody>
            <a:bodyPr wrap="square" rtlCol="0" anchor="ctr"/>
            <a:lstStyle/>
            <a:p>
              <a:pPr marL="0" indent="0">
                <a:buNone/>
              </a:pPr>
              <a:r>
                <a:rPr lang="en-US" sz="1000" b="1" dirty="0">
                  <a:solidFill>
                    <a:srgbClr val="1565C0"/>
                  </a:solidFill>
                  <a:latin typeface="Calibri" panose="020F0502020204030204" pitchFamily="34" charset="0"/>
                  <a:ea typeface="Calibri" panose="020F0502020204030204" pitchFamily="34" charset="-122"/>
                  <a:cs typeface="Calibri" panose="020F0502020204030204" pitchFamily="34" charset="-120"/>
                </a:rPr>
                <a:t>pickle</a:t>
              </a:r>
              <a:endParaRPr lang="en-US" sz="1000" dirty="0"/>
            </a:p>
          </p:txBody>
        </p:sp>
        <p:sp>
          <p:nvSpPr>
            <p:cNvPr id="45" name="Text 40"/>
            <p:cNvSpPr/>
            <p:nvPr/>
          </p:nvSpPr>
          <p:spPr>
            <a:xfrm>
              <a:off x="10872" y="6696"/>
              <a:ext cx="2592" cy="461"/>
            </a:xfrm>
            <a:prstGeom prst="rect">
              <a:avLst/>
            </a:prstGeom>
            <a:noFill/>
          </p:spPr>
          <p:txBody>
            <a:bodyPr wrap="square" rtlCol="0" anchor="ctr"/>
            <a:lstStyle/>
            <a:p>
              <a:pPr marL="0" indent="0">
                <a:buNone/>
              </a:pPr>
              <a:r>
                <a:rPr lang="en-US" sz="900" dirty="0">
                  <a:solidFill>
                    <a:srgbClr val="455A64"/>
                  </a:solidFill>
                  <a:latin typeface="Calibri" panose="020F0502020204030204" pitchFamily="34" charset="0"/>
                  <a:ea typeface="Calibri" panose="020F0502020204030204" pitchFamily="34" charset="-122"/>
                  <a:cs typeface="Calibri" panose="020F0502020204030204" pitchFamily="34" charset="-120"/>
                </a:rPr>
                <a:t>Save and load trained model</a:t>
              </a:r>
              <a:endParaRPr lang="en-US" sz="900" dirty="0"/>
            </a:p>
          </p:txBody>
        </p:sp>
      </p:grpSp>
      <p:sp>
        <p:nvSpPr>
          <p:cNvPr id="46" name="Shape 41"/>
          <p:cNvSpPr/>
          <p:nvPr/>
        </p:nvSpPr>
        <p:spPr>
          <a:xfrm>
            <a:off x="277495" y="6403975"/>
            <a:ext cx="10166350" cy="326390"/>
          </a:xfrm>
          <a:prstGeom prst="roundRect">
            <a:avLst>
              <a:gd name="adj" fmla="val 15789"/>
            </a:avLst>
          </a:prstGeom>
          <a:solidFill>
            <a:srgbClr val="0D1B2A"/>
          </a:solidFill>
          <a:ln w="12700">
            <a:solidFill>
              <a:srgbClr val="0D1B2A"/>
            </a:solidFill>
            <a:prstDash val="solid"/>
          </a:ln>
        </p:spPr>
      </p:sp>
      <p:sp>
        <p:nvSpPr>
          <p:cNvPr id="47" name="Text 42"/>
          <p:cNvSpPr/>
          <p:nvPr/>
        </p:nvSpPr>
        <p:spPr>
          <a:xfrm>
            <a:off x="391795" y="6420485"/>
            <a:ext cx="9944735" cy="292100"/>
          </a:xfrm>
          <a:prstGeom prst="rect">
            <a:avLst/>
          </a:prstGeom>
          <a:noFill/>
        </p:spPr>
        <p:txBody>
          <a:bodyPr wrap="square" rtlCol="0" anchor="ctr"/>
          <a:lstStyle/>
          <a:p>
            <a:pPr marL="0" indent="0" algn="ctr">
              <a:buNone/>
            </a:pPr>
            <a:r>
              <a:rPr lang="en-US" sz="1000" dirty="0">
                <a:solidFill>
                  <a:srgbClr val="00BCD4"/>
                </a:solidFill>
                <a:latin typeface="Calibri" panose="020F0502020204030204" pitchFamily="34" charset="0"/>
                <a:ea typeface="Calibri" panose="020F0502020204030204" pitchFamily="34" charset="-122"/>
                <a:cs typeface="Calibri" panose="020F0502020204030204" pitchFamily="34" charset="-120"/>
              </a:rPr>
              <a:t>System Requirements: Python 3.8+  |  Streamlit  |  Google Gemini API Key (Free)  |  Internet connection for AI features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Algorithm &amp; Deployment</a:t>
            </a:r>
            <a:endParaRPr lang="en-US"/>
          </a:p>
        </p:txBody>
      </p:sp>
      <p:sp>
        <p:nvSpPr>
          <p:cNvPr id="4" name="Text 1"/>
          <p:cNvSpPr/>
          <p:nvPr/>
        </p:nvSpPr>
        <p:spPr>
          <a:xfrm>
            <a:off x="1684655" y="1135380"/>
            <a:ext cx="8229600" cy="457200"/>
          </a:xfrm>
          <a:prstGeom prst="rect">
            <a:avLst/>
          </a:prstGeom>
          <a:noFill/>
        </p:spPr>
        <p:txBody>
          <a:bodyPr wrap="square" rtlCol="0" anchor="ctr"/>
          <a:lstStyle/>
          <a:p>
            <a:pPr marL="0" indent="0">
              <a:buNone/>
            </a:pPr>
            <a:r>
              <a:rPr lang="en-US" sz="26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ALGORITHM &amp; DEPLOYMENT</a:t>
            </a:r>
            <a:endParaRPr lang="en-US" sz="2600" dirty="0"/>
          </a:p>
        </p:txBody>
      </p:sp>
      <p:sp>
        <p:nvSpPr>
          <p:cNvPr id="6" name="Text 2"/>
          <p:cNvSpPr/>
          <p:nvPr/>
        </p:nvSpPr>
        <p:spPr>
          <a:xfrm>
            <a:off x="581025" y="1135380"/>
            <a:ext cx="8229600" cy="347345"/>
          </a:xfrm>
          <a:prstGeom prst="rect">
            <a:avLst/>
          </a:prstGeom>
          <a:noFill/>
        </p:spPr>
        <p:txBody>
          <a:bodyPr wrap="square" rtlCol="0" anchor="ctr"/>
          <a:lstStyle/>
          <a:p>
            <a:pPr marL="0" indent="0">
              <a:buNone/>
            </a:pPr>
            <a:r>
              <a:rPr lang="en-US" sz="1300" i="1" dirty="0">
                <a:solidFill>
                  <a:srgbClr val="BBDEFB"/>
                </a:solidFill>
                <a:latin typeface="Calibri" panose="020F0502020204030204" pitchFamily="34" charset="0"/>
                <a:ea typeface="Calibri" panose="020F0502020204030204" pitchFamily="34" charset="-122"/>
                <a:cs typeface="Calibri" panose="020F0502020204030204" pitchFamily="34" charset="-120"/>
              </a:rPr>
              <a:t>How the ML model was built, trained, and deployed</a:t>
            </a:r>
            <a:endParaRPr lang="en-US" sz="1300" dirty="0"/>
          </a:p>
        </p:txBody>
      </p:sp>
      <p:sp>
        <p:nvSpPr>
          <p:cNvPr id="7" name="Text 3"/>
          <p:cNvSpPr/>
          <p:nvPr/>
        </p:nvSpPr>
        <p:spPr>
          <a:xfrm>
            <a:off x="646430" y="1524000"/>
            <a:ext cx="4114800" cy="347345"/>
          </a:xfrm>
          <a:prstGeom prst="rect">
            <a:avLst/>
          </a:prstGeom>
          <a:noFill/>
        </p:spPr>
        <p:txBody>
          <a:bodyPr wrap="square" rtlCol="0" anchor="ctr"/>
          <a:lstStyle/>
          <a:p>
            <a:pPr marL="0" indent="0">
              <a:buNone/>
            </a:pPr>
            <a:r>
              <a:rPr lang="en-US" sz="1300" b="1" dirty="0">
                <a:solidFill>
                  <a:srgbClr val="1565C0"/>
                </a:solidFill>
                <a:latin typeface="Calibri" panose="020F0502020204030204" pitchFamily="34" charset="0"/>
                <a:ea typeface="Calibri" panose="020F0502020204030204" pitchFamily="34" charset="-122"/>
                <a:cs typeface="Calibri" panose="020F0502020204030204" pitchFamily="34" charset="-120"/>
              </a:rPr>
              <a:t>ML Training Pipeline</a:t>
            </a:r>
            <a:endParaRPr lang="en-US" sz="1300" dirty="0"/>
          </a:p>
        </p:txBody>
      </p:sp>
      <p:grpSp>
        <p:nvGrpSpPr>
          <p:cNvPr id="42" name="Group 41"/>
          <p:cNvGrpSpPr/>
          <p:nvPr/>
        </p:nvGrpSpPr>
        <p:grpSpPr>
          <a:xfrm>
            <a:off x="646430" y="1911985"/>
            <a:ext cx="5720715" cy="4652010"/>
            <a:chOff x="2509" y="3948"/>
            <a:chExt cx="6480" cy="5269"/>
          </a:xfrm>
        </p:grpSpPr>
        <p:sp>
          <p:nvSpPr>
            <p:cNvPr id="8" name="Shape 4"/>
            <p:cNvSpPr/>
            <p:nvPr/>
          </p:nvSpPr>
          <p:spPr>
            <a:xfrm>
              <a:off x="2509" y="4006"/>
              <a:ext cx="547" cy="547"/>
            </a:xfrm>
            <a:prstGeom prst="ellipse">
              <a:avLst/>
            </a:prstGeom>
            <a:solidFill>
              <a:srgbClr val="1565C0"/>
            </a:solidFill>
            <a:ln w="12700">
              <a:solidFill>
                <a:srgbClr val="1565C0"/>
              </a:solidFill>
              <a:prstDash val="solid"/>
            </a:ln>
          </p:spPr>
        </p:sp>
        <p:sp>
          <p:nvSpPr>
            <p:cNvPr id="9" name="Text 5"/>
            <p:cNvSpPr/>
            <p:nvPr/>
          </p:nvSpPr>
          <p:spPr>
            <a:xfrm>
              <a:off x="2509" y="4006"/>
              <a:ext cx="547" cy="547"/>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000" dirty="0"/>
            </a:p>
          </p:txBody>
        </p:sp>
        <p:sp>
          <p:nvSpPr>
            <p:cNvPr id="10" name="Text 6"/>
            <p:cNvSpPr/>
            <p:nvPr/>
          </p:nvSpPr>
          <p:spPr>
            <a:xfrm>
              <a:off x="3229" y="3948"/>
              <a:ext cx="2160" cy="648"/>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Data Collection: </a:t>
              </a:r>
              <a:endParaRPr lang="en-US" sz="1000" dirty="0"/>
            </a:p>
          </p:txBody>
        </p:sp>
        <p:sp>
          <p:nvSpPr>
            <p:cNvPr id="11" name="Text 7"/>
            <p:cNvSpPr/>
            <p:nvPr/>
          </p:nvSpPr>
          <p:spPr>
            <a:xfrm>
              <a:off x="3229" y="4207"/>
              <a:ext cx="5760" cy="547"/>
            </a:xfrm>
            <a:prstGeom prst="rect">
              <a:avLst/>
            </a:prstGeom>
            <a:noFill/>
          </p:spPr>
          <p:txBody>
            <a:bodyPr wrap="square" rtlCol="0" anchor="ctr"/>
            <a:lstStyle/>
            <a:p>
              <a:pPr marL="0" indent="0">
                <a:buNone/>
              </a:pPr>
              <a:r>
                <a:rPr lang="en-US" sz="950" dirty="0">
                  <a:solidFill>
                    <a:srgbClr val="455A64"/>
                  </a:solidFill>
                  <a:latin typeface="Calibri" panose="020F0502020204030204" pitchFamily="34" charset="0"/>
                  <a:ea typeface="Calibri" panose="020F0502020204030204" pitchFamily="34" charset="-122"/>
                  <a:cs typeface="Calibri" panose="020F0502020204030204" pitchFamily="34" charset="-120"/>
                </a:rPr>
                <a:t>EMSCAD dataset — 14,107 job postings, 516 fake (3.66%)</a:t>
              </a:r>
              <a:endParaRPr lang="en-US" sz="950" dirty="0"/>
            </a:p>
          </p:txBody>
        </p:sp>
        <p:sp>
          <p:nvSpPr>
            <p:cNvPr id="12" name="Shape 8"/>
            <p:cNvSpPr/>
            <p:nvPr/>
          </p:nvSpPr>
          <p:spPr>
            <a:xfrm>
              <a:off x="2509" y="4898"/>
              <a:ext cx="547" cy="547"/>
            </a:xfrm>
            <a:prstGeom prst="ellipse">
              <a:avLst/>
            </a:prstGeom>
            <a:solidFill>
              <a:srgbClr val="1565C0"/>
            </a:solidFill>
            <a:ln w="12700">
              <a:solidFill>
                <a:srgbClr val="1565C0"/>
              </a:solidFill>
              <a:prstDash val="solid"/>
            </a:ln>
          </p:spPr>
        </p:sp>
        <p:sp>
          <p:nvSpPr>
            <p:cNvPr id="13" name="Text 9"/>
            <p:cNvSpPr/>
            <p:nvPr/>
          </p:nvSpPr>
          <p:spPr>
            <a:xfrm>
              <a:off x="2509" y="4898"/>
              <a:ext cx="547" cy="547"/>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
          <p:nvSpPr>
            <p:cNvPr id="14" name="Text 10"/>
            <p:cNvSpPr/>
            <p:nvPr/>
          </p:nvSpPr>
          <p:spPr>
            <a:xfrm>
              <a:off x="3229" y="4841"/>
              <a:ext cx="2160" cy="648"/>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Text Preprocessing: </a:t>
              </a:r>
              <a:endParaRPr lang="en-US" sz="1000" dirty="0"/>
            </a:p>
          </p:txBody>
        </p:sp>
        <p:sp>
          <p:nvSpPr>
            <p:cNvPr id="15" name="Text 11"/>
            <p:cNvSpPr/>
            <p:nvPr/>
          </p:nvSpPr>
          <p:spPr>
            <a:xfrm>
              <a:off x="3229" y="5100"/>
              <a:ext cx="5760" cy="547"/>
            </a:xfrm>
            <a:prstGeom prst="rect">
              <a:avLst/>
            </a:prstGeom>
            <a:noFill/>
          </p:spPr>
          <p:txBody>
            <a:bodyPr wrap="square" rtlCol="0" anchor="ctr"/>
            <a:lstStyle/>
            <a:p>
              <a:pPr marL="0" indent="0">
                <a:buNone/>
              </a:pPr>
              <a:r>
                <a:rPr lang="en-US" sz="950" dirty="0">
                  <a:solidFill>
                    <a:srgbClr val="455A64"/>
                  </a:solidFill>
                  <a:latin typeface="Calibri" panose="020F0502020204030204" pitchFamily="34" charset="0"/>
                  <a:ea typeface="Calibri" panose="020F0502020204030204" pitchFamily="34" charset="-122"/>
                  <a:cs typeface="Calibri" panose="020F0502020204030204" pitchFamily="34" charset="-120"/>
                </a:rPr>
                <a:t>Lowercase → Remove digits/punctuation → Remove stopwords</a:t>
              </a:r>
              <a:endParaRPr lang="en-US" sz="950" dirty="0"/>
            </a:p>
          </p:txBody>
        </p:sp>
        <p:sp>
          <p:nvSpPr>
            <p:cNvPr id="16" name="Shape 12"/>
            <p:cNvSpPr/>
            <p:nvPr/>
          </p:nvSpPr>
          <p:spPr>
            <a:xfrm>
              <a:off x="2509" y="5791"/>
              <a:ext cx="547" cy="547"/>
            </a:xfrm>
            <a:prstGeom prst="ellipse">
              <a:avLst/>
            </a:prstGeom>
            <a:solidFill>
              <a:srgbClr val="1565C0"/>
            </a:solidFill>
            <a:ln w="12700">
              <a:solidFill>
                <a:srgbClr val="1565C0"/>
              </a:solidFill>
              <a:prstDash val="solid"/>
            </a:ln>
          </p:spPr>
        </p:sp>
        <p:sp>
          <p:nvSpPr>
            <p:cNvPr id="17" name="Text 13"/>
            <p:cNvSpPr/>
            <p:nvPr/>
          </p:nvSpPr>
          <p:spPr>
            <a:xfrm>
              <a:off x="2509" y="5791"/>
              <a:ext cx="547" cy="547"/>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
          <p:nvSpPr>
            <p:cNvPr id="18" name="Text 14"/>
            <p:cNvSpPr/>
            <p:nvPr/>
          </p:nvSpPr>
          <p:spPr>
            <a:xfrm>
              <a:off x="3229" y="5734"/>
              <a:ext cx="2160" cy="648"/>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Feature Engineering: </a:t>
              </a:r>
              <a:endParaRPr lang="en-US" sz="1000" dirty="0"/>
            </a:p>
          </p:txBody>
        </p:sp>
        <p:sp>
          <p:nvSpPr>
            <p:cNvPr id="19" name="Text 15"/>
            <p:cNvSpPr/>
            <p:nvPr/>
          </p:nvSpPr>
          <p:spPr>
            <a:xfrm>
              <a:off x="3229" y="5993"/>
              <a:ext cx="5760" cy="547"/>
            </a:xfrm>
            <a:prstGeom prst="rect">
              <a:avLst/>
            </a:prstGeom>
            <a:noFill/>
          </p:spPr>
          <p:txBody>
            <a:bodyPr wrap="square" rtlCol="0" anchor="ctr"/>
            <a:lstStyle/>
            <a:p>
              <a:pPr marL="0" indent="0">
                <a:buNone/>
              </a:pPr>
              <a:r>
                <a:rPr lang="en-US" sz="950" dirty="0">
                  <a:solidFill>
                    <a:srgbClr val="455A64"/>
                  </a:solidFill>
                  <a:latin typeface="Calibri" panose="020F0502020204030204" pitchFamily="34" charset="0"/>
                  <a:ea typeface="Calibri" panose="020F0502020204030204" pitchFamily="34" charset="-122"/>
                  <a:cs typeface="Calibri" panose="020F0502020204030204" pitchFamily="34" charset="-120"/>
                </a:rPr>
                <a:t>Combine 5 fields → TF-IDF vectorization (5,000 features)</a:t>
              </a:r>
              <a:endParaRPr lang="en-US" sz="950" dirty="0"/>
            </a:p>
          </p:txBody>
        </p:sp>
        <p:sp>
          <p:nvSpPr>
            <p:cNvPr id="20" name="Shape 16"/>
            <p:cNvSpPr/>
            <p:nvPr/>
          </p:nvSpPr>
          <p:spPr>
            <a:xfrm>
              <a:off x="2509" y="6684"/>
              <a:ext cx="547" cy="547"/>
            </a:xfrm>
            <a:prstGeom prst="ellipse">
              <a:avLst/>
            </a:prstGeom>
            <a:solidFill>
              <a:srgbClr val="1565C0"/>
            </a:solidFill>
            <a:ln w="12700">
              <a:solidFill>
                <a:srgbClr val="1565C0"/>
              </a:solidFill>
              <a:prstDash val="solid"/>
            </a:ln>
          </p:spPr>
        </p:sp>
        <p:sp>
          <p:nvSpPr>
            <p:cNvPr id="21" name="Text 17"/>
            <p:cNvSpPr/>
            <p:nvPr/>
          </p:nvSpPr>
          <p:spPr>
            <a:xfrm>
              <a:off x="2509" y="6684"/>
              <a:ext cx="547" cy="547"/>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
          <p:nvSpPr>
            <p:cNvPr id="22" name="Text 18"/>
            <p:cNvSpPr/>
            <p:nvPr/>
          </p:nvSpPr>
          <p:spPr>
            <a:xfrm>
              <a:off x="3229" y="6626"/>
              <a:ext cx="2160" cy="648"/>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Model Training: </a:t>
              </a:r>
              <a:endParaRPr lang="en-US" sz="1000" dirty="0"/>
            </a:p>
          </p:txBody>
        </p:sp>
        <p:sp>
          <p:nvSpPr>
            <p:cNvPr id="23" name="Text 19"/>
            <p:cNvSpPr/>
            <p:nvPr/>
          </p:nvSpPr>
          <p:spPr>
            <a:xfrm>
              <a:off x="3229" y="6886"/>
              <a:ext cx="5760" cy="547"/>
            </a:xfrm>
            <a:prstGeom prst="rect">
              <a:avLst/>
            </a:prstGeom>
            <a:noFill/>
          </p:spPr>
          <p:txBody>
            <a:bodyPr wrap="square" rtlCol="0" anchor="ctr"/>
            <a:lstStyle/>
            <a:p>
              <a:pPr marL="0" indent="0">
                <a:buNone/>
              </a:pPr>
              <a:r>
                <a:rPr lang="en-US" sz="950" dirty="0">
                  <a:solidFill>
                    <a:srgbClr val="455A64"/>
                  </a:solidFill>
                  <a:latin typeface="Calibri" panose="020F0502020204030204" pitchFamily="34" charset="0"/>
                  <a:ea typeface="Calibri" panose="020F0502020204030204" pitchFamily="34" charset="-122"/>
                  <a:cs typeface="Calibri" panose="020F0502020204030204" pitchFamily="34" charset="-120"/>
                </a:rPr>
                <a:t>Logistic Regression with class_weight='balanced' (handles imbalance)</a:t>
              </a:r>
              <a:endParaRPr lang="en-US" sz="950" dirty="0"/>
            </a:p>
          </p:txBody>
        </p:sp>
        <p:sp>
          <p:nvSpPr>
            <p:cNvPr id="24" name="Shape 20"/>
            <p:cNvSpPr/>
            <p:nvPr/>
          </p:nvSpPr>
          <p:spPr>
            <a:xfrm>
              <a:off x="2509" y="7577"/>
              <a:ext cx="547" cy="547"/>
            </a:xfrm>
            <a:prstGeom prst="ellipse">
              <a:avLst/>
            </a:prstGeom>
            <a:solidFill>
              <a:srgbClr val="1565C0"/>
            </a:solidFill>
            <a:ln w="12700">
              <a:solidFill>
                <a:srgbClr val="1565C0"/>
              </a:solidFill>
              <a:prstDash val="solid"/>
            </a:ln>
          </p:spPr>
        </p:sp>
        <p:sp>
          <p:nvSpPr>
            <p:cNvPr id="25" name="Text 21"/>
            <p:cNvSpPr/>
            <p:nvPr/>
          </p:nvSpPr>
          <p:spPr>
            <a:xfrm>
              <a:off x="2509" y="7577"/>
              <a:ext cx="547" cy="547"/>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
          <p:nvSpPr>
            <p:cNvPr id="26" name="Text 22"/>
            <p:cNvSpPr/>
            <p:nvPr/>
          </p:nvSpPr>
          <p:spPr>
            <a:xfrm>
              <a:off x="3229" y="7519"/>
              <a:ext cx="2160" cy="648"/>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Evaluation: </a:t>
              </a:r>
              <a:endParaRPr lang="en-US" sz="1000" dirty="0"/>
            </a:p>
          </p:txBody>
        </p:sp>
        <p:sp>
          <p:nvSpPr>
            <p:cNvPr id="27" name="Text 23"/>
            <p:cNvSpPr/>
            <p:nvPr/>
          </p:nvSpPr>
          <p:spPr>
            <a:xfrm>
              <a:off x="3229" y="7778"/>
              <a:ext cx="5760" cy="547"/>
            </a:xfrm>
            <a:prstGeom prst="rect">
              <a:avLst/>
            </a:prstGeom>
            <a:noFill/>
          </p:spPr>
          <p:txBody>
            <a:bodyPr wrap="square" rtlCol="0" anchor="ctr"/>
            <a:lstStyle/>
            <a:p>
              <a:pPr marL="0" indent="0">
                <a:buNone/>
              </a:pPr>
              <a:r>
                <a:rPr lang="en-US" sz="950" dirty="0">
                  <a:solidFill>
                    <a:srgbClr val="455A64"/>
                  </a:solidFill>
                  <a:latin typeface="Calibri" panose="020F0502020204030204" pitchFamily="34" charset="0"/>
                  <a:ea typeface="Calibri" panose="020F0502020204030204" pitchFamily="34" charset="-122"/>
                  <a:cs typeface="Calibri" panose="020F0502020204030204" pitchFamily="34" charset="-120"/>
                </a:rPr>
                <a:t>97.7% accuracy, 88% recall on fraud, F1=0.74, only 13 false negatives</a:t>
              </a:r>
              <a:endParaRPr lang="en-US" sz="950" dirty="0"/>
            </a:p>
          </p:txBody>
        </p:sp>
        <p:sp>
          <p:nvSpPr>
            <p:cNvPr id="28" name="Shape 24"/>
            <p:cNvSpPr/>
            <p:nvPr/>
          </p:nvSpPr>
          <p:spPr>
            <a:xfrm>
              <a:off x="2509" y="8470"/>
              <a:ext cx="547" cy="547"/>
            </a:xfrm>
            <a:prstGeom prst="ellipse">
              <a:avLst/>
            </a:prstGeom>
            <a:solidFill>
              <a:srgbClr val="1565C0"/>
            </a:solidFill>
            <a:ln w="12700">
              <a:solidFill>
                <a:srgbClr val="1565C0"/>
              </a:solidFill>
              <a:prstDash val="solid"/>
            </a:ln>
          </p:spPr>
        </p:sp>
        <p:sp>
          <p:nvSpPr>
            <p:cNvPr id="29" name="Text 25"/>
            <p:cNvSpPr/>
            <p:nvPr/>
          </p:nvSpPr>
          <p:spPr>
            <a:xfrm>
              <a:off x="2509" y="8470"/>
              <a:ext cx="547" cy="547"/>
            </a:xfrm>
            <a:prstGeom prst="rect">
              <a:avLst/>
            </a:prstGeom>
            <a:noFill/>
          </p:spPr>
          <p:txBody>
            <a:bodyPr wrap="square" lIns="0" tIns="0" rIns="0" bIns="0" rtlCol="0" anchor="ctr"/>
            <a:lstStyle/>
            <a:p>
              <a:pPr marL="0" indent="0" algn="ctr">
                <a:buNone/>
              </a:pPr>
              <a:r>
                <a:rPr lang="en-US" sz="10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000" dirty="0"/>
            </a:p>
          </p:txBody>
        </p:sp>
        <p:sp>
          <p:nvSpPr>
            <p:cNvPr id="30" name="Text 26"/>
            <p:cNvSpPr/>
            <p:nvPr/>
          </p:nvSpPr>
          <p:spPr>
            <a:xfrm>
              <a:off x="3229" y="8412"/>
              <a:ext cx="2160" cy="648"/>
            </a:xfrm>
            <a:prstGeom prst="rect">
              <a:avLst/>
            </a:prstGeom>
            <a:noFill/>
          </p:spPr>
          <p:txBody>
            <a:bodyPr wrap="square" rtlCol="0" anchor="ctr"/>
            <a:lstStyle/>
            <a:p>
              <a:pPr marL="0" indent="0">
                <a:buNone/>
              </a:pPr>
              <a:r>
                <a:rPr lang="en-US" sz="1000" b="1" dirty="0">
                  <a:solidFill>
                    <a:srgbClr val="0D1B2A"/>
                  </a:solidFill>
                  <a:latin typeface="Calibri" panose="020F0502020204030204" pitchFamily="34" charset="0"/>
                  <a:ea typeface="Calibri" panose="020F0502020204030204" pitchFamily="34" charset="-122"/>
                  <a:cs typeface="Calibri" panose="020F0502020204030204" pitchFamily="34" charset="-120"/>
                </a:rPr>
                <a:t>Saving: </a:t>
              </a:r>
              <a:endParaRPr lang="en-US" sz="1000" dirty="0"/>
            </a:p>
          </p:txBody>
        </p:sp>
        <p:sp>
          <p:nvSpPr>
            <p:cNvPr id="31" name="Text 27"/>
            <p:cNvSpPr/>
            <p:nvPr/>
          </p:nvSpPr>
          <p:spPr>
            <a:xfrm>
              <a:off x="3229" y="8671"/>
              <a:ext cx="5760" cy="547"/>
            </a:xfrm>
            <a:prstGeom prst="rect">
              <a:avLst/>
            </a:prstGeom>
            <a:noFill/>
          </p:spPr>
          <p:txBody>
            <a:bodyPr wrap="square" rtlCol="0" anchor="ctr"/>
            <a:lstStyle/>
            <a:p>
              <a:pPr marL="0" indent="0">
                <a:buNone/>
              </a:pPr>
              <a:r>
                <a:rPr lang="en-US" sz="950" dirty="0">
                  <a:solidFill>
                    <a:srgbClr val="455A64"/>
                  </a:solidFill>
                  <a:latin typeface="Calibri" panose="020F0502020204030204" pitchFamily="34" charset="0"/>
                  <a:ea typeface="Calibri" panose="020F0502020204030204" pitchFamily="34" charset="-122"/>
                  <a:cs typeface="Calibri" panose="020F0502020204030204" pitchFamily="34" charset="-120"/>
                </a:rPr>
                <a:t>Model saved as .pkl using pickle for deployment</a:t>
              </a:r>
              <a:endParaRPr lang="en-US" sz="950" dirty="0"/>
            </a:p>
          </p:txBody>
        </p:sp>
      </p:grpSp>
      <p:sp>
        <p:nvSpPr>
          <p:cNvPr id="32" name="Text 28"/>
          <p:cNvSpPr/>
          <p:nvPr/>
        </p:nvSpPr>
        <p:spPr>
          <a:xfrm>
            <a:off x="5982335" y="1534160"/>
            <a:ext cx="3931920" cy="347345"/>
          </a:xfrm>
          <a:prstGeom prst="rect">
            <a:avLst/>
          </a:prstGeom>
          <a:noFill/>
        </p:spPr>
        <p:txBody>
          <a:bodyPr wrap="square" rtlCol="0" anchor="ctr"/>
          <a:lstStyle/>
          <a:p>
            <a:pPr marL="0" indent="0">
              <a:buNone/>
            </a:pPr>
            <a:r>
              <a:rPr lang="en-US" sz="1300" b="1" dirty="0">
                <a:solidFill>
                  <a:srgbClr val="1565C0"/>
                </a:solidFill>
                <a:latin typeface="Calibri" panose="020F0502020204030204" pitchFamily="34" charset="0"/>
                <a:ea typeface="Calibri" panose="020F0502020204030204" pitchFamily="34" charset="-122"/>
                <a:cs typeface="Calibri" panose="020F0502020204030204" pitchFamily="34" charset="-120"/>
              </a:rPr>
              <a:t>Deployment Approach</a:t>
            </a:r>
            <a:endParaRPr lang="en-US" sz="1300" dirty="0"/>
          </a:p>
        </p:txBody>
      </p:sp>
      <p:sp>
        <p:nvSpPr>
          <p:cNvPr id="33" name="Shape 29"/>
          <p:cNvSpPr/>
          <p:nvPr/>
        </p:nvSpPr>
        <p:spPr>
          <a:xfrm>
            <a:off x="6073775" y="2029460"/>
            <a:ext cx="5536565" cy="1753235"/>
          </a:xfrm>
          <a:prstGeom prst="roundRect">
            <a:avLst>
              <a:gd name="adj" fmla="val 6250"/>
            </a:avLst>
          </a:prstGeom>
          <a:solidFill>
            <a:srgbClr val="E8F5E9"/>
          </a:solidFill>
          <a:ln w="19050">
            <a:solidFill>
              <a:srgbClr val="00BCD4"/>
            </a:solidFill>
            <a:prstDash val="solid"/>
          </a:ln>
          <a:effectLst>
            <a:outerShdw blurRad="101600" dist="38100" dir="2700000" algn="bl" rotWithShape="0">
              <a:srgbClr val="000000">
                <a:alpha val="12000"/>
              </a:srgbClr>
            </a:outerShdw>
          </a:effectLst>
        </p:spPr>
      </p:sp>
      <p:sp>
        <p:nvSpPr>
          <p:cNvPr id="34" name="Text 30"/>
          <p:cNvSpPr/>
          <p:nvPr/>
        </p:nvSpPr>
        <p:spPr>
          <a:xfrm>
            <a:off x="6266815" y="2139315"/>
            <a:ext cx="5150485" cy="416560"/>
          </a:xfrm>
          <a:prstGeom prst="rect">
            <a:avLst/>
          </a:prstGeom>
          <a:noFill/>
        </p:spPr>
        <p:txBody>
          <a:bodyPr wrap="square" rtlCol="0" anchor="ctr"/>
          <a:lstStyle/>
          <a:p>
            <a:pPr marL="0" indent="0">
              <a:buNone/>
            </a:pPr>
            <a:r>
              <a:rPr lang="en-US" sz="1200" b="1" dirty="0">
                <a:solidFill>
                  <a:srgbClr val="0D1B2A"/>
                </a:solidFill>
                <a:latin typeface="Calibri" panose="020F0502020204030204" pitchFamily="34" charset="0"/>
                <a:ea typeface="Calibri" panose="020F0502020204030204" pitchFamily="34" charset="-122"/>
                <a:cs typeface="Calibri" panose="020F0502020204030204" pitchFamily="34" charset="-120"/>
              </a:rPr>
              <a:t>💻  VS Code (Local)</a:t>
            </a:r>
            <a:endParaRPr lang="en-US" sz="1200" dirty="0"/>
          </a:p>
        </p:txBody>
      </p:sp>
      <p:sp>
        <p:nvSpPr>
          <p:cNvPr id="35" name="Text 31"/>
          <p:cNvSpPr/>
          <p:nvPr/>
        </p:nvSpPr>
        <p:spPr>
          <a:xfrm>
            <a:off x="6266815" y="2555240"/>
            <a:ext cx="5150485" cy="109601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Developed and tested locally.</a:t>
            </a:r>
            <a:endParaRPr lang="en-US" sz="1000" dirty="0"/>
          </a:p>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streamlit run app.py</a:t>
            </a:r>
            <a:endParaRPr lang="en-US" sz="1000" dirty="0"/>
          </a:p>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 Opens at localhost:8501</a:t>
            </a:r>
            <a:endParaRPr lang="en-US" sz="1000" dirty="0"/>
          </a:p>
        </p:txBody>
      </p:sp>
      <p:sp>
        <p:nvSpPr>
          <p:cNvPr id="36" name="Shape 32"/>
          <p:cNvSpPr/>
          <p:nvPr/>
        </p:nvSpPr>
        <p:spPr>
          <a:xfrm>
            <a:off x="6073775" y="4057015"/>
            <a:ext cx="5536565" cy="1753235"/>
          </a:xfrm>
          <a:prstGeom prst="roundRect">
            <a:avLst>
              <a:gd name="adj" fmla="val 6250"/>
            </a:avLst>
          </a:prstGeom>
          <a:solidFill>
            <a:srgbClr val="FFF3E0"/>
          </a:solidFill>
          <a:ln w="19050">
            <a:solidFill>
              <a:srgbClr val="00BCD4"/>
            </a:solidFill>
            <a:prstDash val="solid"/>
          </a:ln>
          <a:effectLst>
            <a:outerShdw blurRad="101600" dist="38100" dir="2700000" algn="bl" rotWithShape="0">
              <a:srgbClr val="000000">
                <a:alpha val="12000"/>
              </a:srgbClr>
            </a:outerShdw>
          </a:effectLst>
        </p:spPr>
      </p:sp>
      <p:sp>
        <p:nvSpPr>
          <p:cNvPr id="37" name="Text 33"/>
          <p:cNvSpPr/>
          <p:nvPr/>
        </p:nvSpPr>
        <p:spPr>
          <a:xfrm>
            <a:off x="6266815" y="4166235"/>
            <a:ext cx="5150485" cy="416560"/>
          </a:xfrm>
          <a:prstGeom prst="rect">
            <a:avLst/>
          </a:prstGeom>
          <a:noFill/>
        </p:spPr>
        <p:txBody>
          <a:bodyPr wrap="square" rtlCol="0" anchor="ctr"/>
          <a:lstStyle/>
          <a:p>
            <a:pPr marL="0" indent="0">
              <a:buNone/>
            </a:pPr>
            <a:r>
              <a:rPr lang="en-US" altLang="en-US" sz="1200" dirty="0"/>
              <a:t>☁️  Streamlit Cloud</a:t>
            </a:r>
            <a:endParaRPr lang="en-US" altLang="en-US" sz="1200" dirty="0"/>
          </a:p>
        </p:txBody>
      </p:sp>
      <p:sp>
        <p:nvSpPr>
          <p:cNvPr id="38" name="Text 34"/>
          <p:cNvSpPr/>
          <p:nvPr/>
        </p:nvSpPr>
        <p:spPr>
          <a:xfrm>
            <a:off x="6266815" y="4582795"/>
            <a:ext cx="5150485" cy="1096010"/>
          </a:xfrm>
          <a:prstGeom prst="rect">
            <a:avLst/>
          </a:prstGeom>
          <a:noFill/>
        </p:spPr>
        <p:txBody>
          <a:bodyPr wrap="square" rtlCol="0" anchor="ctr"/>
          <a:lstStyle/>
          <a:p>
            <a:pPr marL="0" indent="0">
              <a:buNone/>
            </a:pPr>
            <a:r>
              <a:rPr lang="en-US" altLang="en-US" sz="1000" dirty="0"/>
              <a:t>Deployed for permanent public access.</a:t>
            </a:r>
            <a:endParaRPr lang="en-US" altLang="en-US" sz="1000" dirty="0"/>
          </a:p>
          <a:p>
            <a:pPr marL="0" indent="0">
              <a:buNone/>
            </a:pPr>
            <a:endParaRPr lang="en-US" altLang="en-US" sz="1000" dirty="0"/>
          </a:p>
          <a:p>
            <a:pPr marL="0" indent="0">
              <a:buNone/>
            </a:pPr>
            <a:r>
              <a:rPr lang="en-US" altLang="en-US" sz="1000" dirty="0"/>
              <a:t>Repository connected to Streamlit Cloud</a:t>
            </a:r>
            <a:endParaRPr lang="en-US" altLang="en-US" sz="1000" dirty="0"/>
          </a:p>
          <a:p>
            <a:pPr marL="0" indent="0">
              <a:buNone/>
            </a:pPr>
            <a:endParaRPr lang="en-US" altLang="en-US" sz="1000" dirty="0"/>
          </a:p>
          <a:p>
            <a:pPr marL="0" indent="0">
              <a:buNone/>
            </a:pPr>
            <a:r>
              <a:rPr lang="en-US" altLang="en-US" sz="1000" dirty="0"/>
              <a:t>Automatic deployment from GitHub</a:t>
            </a:r>
            <a:endParaRPr lang="en-US" altLang="en-US" sz="1000" dirty="0"/>
          </a:p>
          <a:p>
            <a:pPr marL="0" indent="0">
              <a:buNone/>
            </a:pPr>
            <a:endParaRPr lang="en-US" altLang="en-US" sz="1000" dirty="0"/>
          </a:p>
          <a:p>
            <a:pPr marL="0" indent="0">
              <a:buNone/>
            </a:pPr>
            <a:r>
              <a:rPr lang="en-US" altLang="en-US" sz="1000" dirty="0"/>
              <a:t>Public URL:</a:t>
            </a:r>
            <a:endParaRPr lang="en-US" altLang="en-US" sz="1000" dirty="0"/>
          </a:p>
          <a:p>
            <a:pPr marL="0" indent="0">
              <a:buNone/>
            </a:pPr>
            <a:r>
              <a:rPr lang="en-US" altLang="en-US" sz="1000" dirty="0"/>
              <a:t>https://ai-job-scam-detector-kmnbfck73fegfappzrvdxeq.streamlit.app/</a:t>
            </a:r>
            <a:endParaRPr lang="en-US" altLang="en-US" sz="1000" dirty="0"/>
          </a:p>
        </p:txBody>
      </p:sp>
      <p:grpSp>
        <p:nvGrpSpPr>
          <p:cNvPr id="45" name="Group 44"/>
          <p:cNvGrpSpPr/>
          <p:nvPr/>
        </p:nvGrpSpPr>
        <p:grpSpPr>
          <a:xfrm>
            <a:off x="6073775" y="5960110"/>
            <a:ext cx="5535930" cy="459740"/>
            <a:chOff x="9565" y="9236"/>
            <a:chExt cx="8718" cy="724"/>
          </a:xfrm>
        </p:grpSpPr>
        <p:sp>
          <p:nvSpPr>
            <p:cNvPr id="39" name="Shape 35"/>
            <p:cNvSpPr/>
            <p:nvPr/>
          </p:nvSpPr>
          <p:spPr>
            <a:xfrm>
              <a:off x="9565" y="9236"/>
              <a:ext cx="8719" cy="725"/>
            </a:xfrm>
            <a:prstGeom prst="roundRect">
              <a:avLst>
                <a:gd name="adj" fmla="val 14286"/>
              </a:avLst>
            </a:prstGeom>
            <a:solidFill>
              <a:srgbClr val="E3F2FD"/>
            </a:solidFill>
            <a:ln w="12700">
              <a:solidFill>
                <a:srgbClr val="1565C0"/>
              </a:solidFill>
              <a:prstDash val="solid"/>
            </a:ln>
          </p:spPr>
        </p:sp>
        <p:sp>
          <p:nvSpPr>
            <p:cNvPr id="40" name="Text 36"/>
            <p:cNvSpPr/>
            <p:nvPr/>
          </p:nvSpPr>
          <p:spPr>
            <a:xfrm>
              <a:off x="9768" y="9288"/>
              <a:ext cx="8313" cy="621"/>
            </a:xfrm>
            <a:prstGeom prst="rect">
              <a:avLst/>
            </a:prstGeom>
            <a:noFill/>
          </p:spPr>
          <p:txBody>
            <a:bodyPr wrap="square" rtlCol="0" anchor="ctr"/>
            <a:lstStyle/>
            <a:p>
              <a:pPr marL="0" indent="0">
                <a:buNone/>
              </a:pPr>
              <a:r>
                <a:rPr lang="en-US" sz="950" dirty="0">
                  <a:solidFill>
                    <a:srgbClr val="0D1B2A"/>
                  </a:solidFill>
                  <a:latin typeface="Calibri" panose="020F0502020204030204" pitchFamily="34" charset="0"/>
                  <a:ea typeface="Calibri" panose="020F0502020204030204" pitchFamily="34" charset="-122"/>
                  <a:cs typeface="Calibri" panose="020F0502020204030204" pitchFamily="34" charset="-120"/>
                </a:rPr>
                <a:t>Why Logistic Regression? Fast, interpretable, and works well on high-dimensional TF-IDF sparse text data.</a:t>
              </a:r>
              <a:endParaRPr lang="en-US" sz="95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Result</a:t>
            </a:r>
            <a:endParaRPr lang="en-US"/>
          </a:p>
        </p:txBody>
      </p:sp>
      <p:sp>
        <p:nvSpPr>
          <p:cNvPr id="4" name="Text 1"/>
          <p:cNvSpPr/>
          <p:nvPr/>
        </p:nvSpPr>
        <p:spPr>
          <a:xfrm>
            <a:off x="457200" y="91440"/>
            <a:ext cx="8229600" cy="457200"/>
          </a:xfrm>
          <a:prstGeom prst="rect">
            <a:avLst/>
          </a:prstGeom>
          <a:noFill/>
        </p:spPr>
        <p:txBody>
          <a:bodyPr wrap="square" rtlCol="0" anchor="ctr"/>
          <a:lstStyle/>
          <a:p>
            <a:pPr marL="0" indent="0">
              <a:buNone/>
            </a:pPr>
            <a:r>
              <a:rPr lang="en-US" sz="26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RESULT</a:t>
            </a:r>
            <a:endParaRPr lang="en-US" sz="2600" dirty="0"/>
          </a:p>
        </p:txBody>
      </p:sp>
      <p:sp>
        <p:nvSpPr>
          <p:cNvPr id="6" name="Text 2"/>
          <p:cNvSpPr/>
          <p:nvPr/>
        </p:nvSpPr>
        <p:spPr>
          <a:xfrm>
            <a:off x="640080" y="1232662"/>
            <a:ext cx="8229600" cy="347472"/>
          </a:xfrm>
          <a:prstGeom prst="rect">
            <a:avLst/>
          </a:prstGeom>
          <a:noFill/>
        </p:spPr>
        <p:txBody>
          <a:bodyPr wrap="square" rtlCol="0" anchor="ctr"/>
          <a:lstStyle/>
          <a:p>
            <a:pPr marL="0" indent="0">
              <a:buNone/>
            </a:pPr>
            <a:r>
              <a:rPr lang="en-US" sz="1300" i="1" dirty="0">
                <a:solidFill>
                  <a:srgbClr val="00BCD4"/>
                </a:solidFill>
                <a:latin typeface="Calibri" panose="020F0502020204030204" pitchFamily="34" charset="0"/>
                <a:ea typeface="Calibri" panose="020F0502020204030204" pitchFamily="34" charset="-122"/>
                <a:cs typeface="Calibri" panose="020F0502020204030204" pitchFamily="34" charset="-120"/>
              </a:rPr>
              <a:t>Model performance metrics and application screenshots</a:t>
            </a:r>
            <a:endParaRPr lang="en-US" sz="1300" dirty="0"/>
          </a:p>
        </p:txBody>
      </p:sp>
      <p:grpSp>
        <p:nvGrpSpPr>
          <p:cNvPr id="43" name="Group 42"/>
          <p:cNvGrpSpPr/>
          <p:nvPr/>
        </p:nvGrpSpPr>
        <p:grpSpPr>
          <a:xfrm>
            <a:off x="581660" y="2131060"/>
            <a:ext cx="10281920" cy="1809115"/>
            <a:chOff x="432" y="1656"/>
            <a:chExt cx="13464" cy="1440"/>
          </a:xfrm>
        </p:grpSpPr>
        <p:sp>
          <p:nvSpPr>
            <p:cNvPr id="7" name="Shape 3"/>
            <p:cNvSpPr/>
            <p:nvPr/>
          </p:nvSpPr>
          <p:spPr>
            <a:xfrm>
              <a:off x="432" y="1656"/>
              <a:ext cx="2520" cy="1440"/>
            </a:xfrm>
            <a:prstGeom prst="roundRect">
              <a:avLst>
                <a:gd name="adj" fmla="val 10000"/>
              </a:avLst>
            </a:prstGeom>
            <a:solidFill>
              <a:srgbClr val="E8F5E9"/>
            </a:solidFill>
            <a:ln w="25400">
              <a:solidFill>
                <a:srgbClr val="2E7D32"/>
              </a:solidFill>
              <a:prstDash val="solid"/>
            </a:ln>
            <a:effectLst>
              <a:outerShdw blurRad="101600" dist="38100" dir="2700000" algn="bl" rotWithShape="0">
                <a:srgbClr val="000000">
                  <a:alpha val="12000"/>
                </a:srgbClr>
              </a:outerShdw>
            </a:effectLst>
          </p:spPr>
        </p:sp>
        <p:sp>
          <p:nvSpPr>
            <p:cNvPr id="8" name="Text 4"/>
            <p:cNvSpPr/>
            <p:nvPr/>
          </p:nvSpPr>
          <p:spPr>
            <a:xfrm>
              <a:off x="432" y="1728"/>
              <a:ext cx="2520" cy="749"/>
            </a:xfrm>
            <a:prstGeom prst="rect">
              <a:avLst/>
            </a:prstGeom>
            <a:noFill/>
          </p:spPr>
          <p:txBody>
            <a:bodyPr wrap="square" rtlCol="0" anchor="ctr"/>
            <a:lstStyle/>
            <a:p>
              <a:pPr marL="0" indent="0" algn="ctr">
                <a:buNone/>
              </a:pPr>
              <a:r>
                <a:rPr lang="en-US" sz="2200" b="1" dirty="0">
                  <a:solidFill>
                    <a:srgbClr val="0D1B2A"/>
                  </a:solidFill>
                  <a:latin typeface="Calibri" panose="020F0502020204030204" pitchFamily="34" charset="0"/>
                  <a:ea typeface="Calibri" panose="020F0502020204030204" pitchFamily="34" charset="-122"/>
                  <a:cs typeface="Calibri" panose="020F0502020204030204" pitchFamily="34" charset="-120"/>
                </a:rPr>
                <a:t>97.7%</a:t>
              </a:r>
              <a:endParaRPr lang="en-US" sz="2200" dirty="0"/>
            </a:p>
          </p:txBody>
        </p:sp>
        <p:sp>
          <p:nvSpPr>
            <p:cNvPr id="9" name="Text 5"/>
            <p:cNvSpPr/>
            <p:nvPr/>
          </p:nvSpPr>
          <p:spPr>
            <a:xfrm>
              <a:off x="432" y="2448"/>
              <a:ext cx="2520" cy="504"/>
            </a:xfrm>
            <a:prstGeom prst="rect">
              <a:avLst/>
            </a:prstGeom>
            <a:noFill/>
          </p:spPr>
          <p:txBody>
            <a:bodyPr wrap="square" rtlCol="0" anchor="ctr"/>
            <a:lstStyle/>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Accuracy</a:t>
              </a:r>
              <a:endParaRPr lang="en-US" sz="1000" dirty="0"/>
            </a:p>
          </p:txBody>
        </p:sp>
        <p:sp>
          <p:nvSpPr>
            <p:cNvPr id="10" name="Shape 6"/>
            <p:cNvSpPr/>
            <p:nvPr/>
          </p:nvSpPr>
          <p:spPr>
            <a:xfrm>
              <a:off x="3168" y="1656"/>
              <a:ext cx="2520" cy="1440"/>
            </a:xfrm>
            <a:prstGeom prst="roundRect">
              <a:avLst>
                <a:gd name="adj" fmla="val 10000"/>
              </a:avLst>
            </a:prstGeom>
            <a:solidFill>
              <a:srgbClr val="FFF3E0"/>
            </a:solidFill>
            <a:ln w="25400">
              <a:solidFill>
                <a:srgbClr val="F57F17"/>
              </a:solidFill>
              <a:prstDash val="solid"/>
            </a:ln>
            <a:effectLst>
              <a:outerShdw blurRad="101600" dist="38100" dir="2700000" algn="bl" rotWithShape="0">
                <a:srgbClr val="000000">
                  <a:alpha val="12000"/>
                </a:srgbClr>
              </a:outerShdw>
            </a:effectLst>
          </p:spPr>
        </p:sp>
        <p:sp>
          <p:nvSpPr>
            <p:cNvPr id="11" name="Text 7"/>
            <p:cNvSpPr/>
            <p:nvPr/>
          </p:nvSpPr>
          <p:spPr>
            <a:xfrm>
              <a:off x="3168" y="1728"/>
              <a:ext cx="2520" cy="749"/>
            </a:xfrm>
            <a:prstGeom prst="rect">
              <a:avLst/>
            </a:prstGeom>
            <a:noFill/>
          </p:spPr>
          <p:txBody>
            <a:bodyPr wrap="square" rtlCol="0" anchor="ctr"/>
            <a:lstStyle/>
            <a:p>
              <a:pPr marL="0" indent="0" algn="ctr">
                <a:buNone/>
              </a:pPr>
              <a:r>
                <a:rPr lang="en-US" sz="2200" b="1" dirty="0">
                  <a:solidFill>
                    <a:srgbClr val="0D1B2A"/>
                  </a:solidFill>
                  <a:latin typeface="Calibri" panose="020F0502020204030204" pitchFamily="34" charset="0"/>
                  <a:ea typeface="Calibri" panose="020F0502020204030204" pitchFamily="34" charset="-122"/>
                  <a:cs typeface="Calibri" panose="020F0502020204030204" pitchFamily="34" charset="-120"/>
                </a:rPr>
                <a:t>88%</a:t>
              </a:r>
              <a:endParaRPr lang="en-US" sz="2200" dirty="0"/>
            </a:p>
          </p:txBody>
        </p:sp>
        <p:sp>
          <p:nvSpPr>
            <p:cNvPr id="12" name="Text 8"/>
            <p:cNvSpPr/>
            <p:nvPr/>
          </p:nvSpPr>
          <p:spPr>
            <a:xfrm>
              <a:off x="3168" y="2448"/>
              <a:ext cx="2520" cy="504"/>
            </a:xfrm>
            <a:prstGeom prst="rect">
              <a:avLst/>
            </a:prstGeom>
            <a:noFill/>
          </p:spPr>
          <p:txBody>
            <a:bodyPr wrap="square" rtlCol="0" anchor="ctr"/>
            <a:lstStyle/>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Fraud Recall</a:t>
              </a:r>
              <a:endParaRPr lang="en-US" sz="1000" dirty="0"/>
            </a:p>
          </p:txBody>
        </p:sp>
        <p:sp>
          <p:nvSpPr>
            <p:cNvPr id="13" name="Shape 9"/>
            <p:cNvSpPr/>
            <p:nvPr/>
          </p:nvSpPr>
          <p:spPr>
            <a:xfrm>
              <a:off x="5904" y="1656"/>
              <a:ext cx="2520" cy="1440"/>
            </a:xfrm>
            <a:prstGeom prst="roundRect">
              <a:avLst>
                <a:gd name="adj" fmla="val 10000"/>
              </a:avLst>
            </a:prstGeom>
            <a:solidFill>
              <a:srgbClr val="EDE7F6"/>
            </a:solidFill>
            <a:ln w="25400">
              <a:solidFill>
                <a:srgbClr val="1565C0"/>
              </a:solidFill>
              <a:prstDash val="solid"/>
            </a:ln>
            <a:effectLst>
              <a:outerShdw blurRad="101600" dist="38100" dir="2700000" algn="bl" rotWithShape="0">
                <a:srgbClr val="000000">
                  <a:alpha val="12000"/>
                </a:srgbClr>
              </a:outerShdw>
            </a:effectLst>
          </p:spPr>
        </p:sp>
        <p:sp>
          <p:nvSpPr>
            <p:cNvPr id="14" name="Text 10"/>
            <p:cNvSpPr/>
            <p:nvPr/>
          </p:nvSpPr>
          <p:spPr>
            <a:xfrm>
              <a:off x="5904" y="1728"/>
              <a:ext cx="2520" cy="749"/>
            </a:xfrm>
            <a:prstGeom prst="rect">
              <a:avLst/>
            </a:prstGeom>
            <a:noFill/>
          </p:spPr>
          <p:txBody>
            <a:bodyPr wrap="square" rtlCol="0" anchor="ctr"/>
            <a:lstStyle/>
            <a:p>
              <a:pPr marL="0" indent="0" algn="ctr">
                <a:buNone/>
              </a:pPr>
              <a:r>
                <a:rPr lang="en-US" sz="2200" b="1" dirty="0">
                  <a:solidFill>
                    <a:srgbClr val="0D1B2A"/>
                  </a:solidFill>
                  <a:latin typeface="Calibri" panose="020F0502020204030204" pitchFamily="34" charset="0"/>
                  <a:ea typeface="Calibri" panose="020F0502020204030204" pitchFamily="34" charset="-122"/>
                  <a:cs typeface="Calibri" panose="020F0502020204030204" pitchFamily="34" charset="-120"/>
                </a:rPr>
                <a:t>64%</a:t>
              </a:r>
              <a:endParaRPr lang="en-US" sz="2200" dirty="0"/>
            </a:p>
          </p:txBody>
        </p:sp>
        <p:sp>
          <p:nvSpPr>
            <p:cNvPr id="15" name="Text 11"/>
            <p:cNvSpPr/>
            <p:nvPr/>
          </p:nvSpPr>
          <p:spPr>
            <a:xfrm>
              <a:off x="5904" y="2448"/>
              <a:ext cx="2520" cy="504"/>
            </a:xfrm>
            <a:prstGeom prst="rect">
              <a:avLst/>
            </a:prstGeom>
            <a:noFill/>
          </p:spPr>
          <p:txBody>
            <a:bodyPr wrap="square" rtlCol="0" anchor="ctr"/>
            <a:lstStyle/>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Precision</a:t>
              </a:r>
              <a:endParaRPr lang="en-US" sz="1000" dirty="0"/>
            </a:p>
          </p:txBody>
        </p:sp>
        <p:sp>
          <p:nvSpPr>
            <p:cNvPr id="16" name="Shape 12"/>
            <p:cNvSpPr/>
            <p:nvPr/>
          </p:nvSpPr>
          <p:spPr>
            <a:xfrm>
              <a:off x="8640" y="1656"/>
              <a:ext cx="2520" cy="1440"/>
            </a:xfrm>
            <a:prstGeom prst="roundRect">
              <a:avLst>
                <a:gd name="adj" fmla="val 10000"/>
              </a:avLst>
            </a:prstGeom>
            <a:solidFill>
              <a:srgbClr val="FCE4EC"/>
            </a:solidFill>
            <a:ln w="25400">
              <a:solidFill>
                <a:srgbClr val="C62828"/>
              </a:solidFill>
              <a:prstDash val="solid"/>
            </a:ln>
            <a:effectLst>
              <a:outerShdw blurRad="101600" dist="38100" dir="2700000" algn="bl" rotWithShape="0">
                <a:srgbClr val="000000">
                  <a:alpha val="12000"/>
                </a:srgbClr>
              </a:outerShdw>
            </a:effectLst>
          </p:spPr>
        </p:sp>
        <p:sp>
          <p:nvSpPr>
            <p:cNvPr id="17" name="Text 13"/>
            <p:cNvSpPr/>
            <p:nvPr/>
          </p:nvSpPr>
          <p:spPr>
            <a:xfrm>
              <a:off x="8640" y="1728"/>
              <a:ext cx="2520" cy="749"/>
            </a:xfrm>
            <a:prstGeom prst="rect">
              <a:avLst/>
            </a:prstGeom>
            <a:noFill/>
          </p:spPr>
          <p:txBody>
            <a:bodyPr wrap="square" rtlCol="0" anchor="ctr"/>
            <a:lstStyle/>
            <a:p>
              <a:pPr marL="0" indent="0" algn="ctr">
                <a:buNone/>
              </a:pPr>
              <a:r>
                <a:rPr lang="en-US" sz="2200" b="1" dirty="0">
                  <a:solidFill>
                    <a:srgbClr val="0D1B2A"/>
                  </a:solidFill>
                  <a:latin typeface="Calibri" panose="020F0502020204030204" pitchFamily="34" charset="0"/>
                  <a:ea typeface="Calibri" panose="020F0502020204030204" pitchFamily="34" charset="-122"/>
                  <a:cs typeface="Calibri" panose="020F0502020204030204" pitchFamily="34" charset="-120"/>
                </a:rPr>
                <a:t>0.74</a:t>
              </a:r>
              <a:endParaRPr lang="en-US" sz="2200" dirty="0"/>
            </a:p>
          </p:txBody>
        </p:sp>
        <p:sp>
          <p:nvSpPr>
            <p:cNvPr id="18" name="Text 14"/>
            <p:cNvSpPr/>
            <p:nvPr/>
          </p:nvSpPr>
          <p:spPr>
            <a:xfrm>
              <a:off x="8640" y="2448"/>
              <a:ext cx="2520" cy="504"/>
            </a:xfrm>
            <a:prstGeom prst="rect">
              <a:avLst/>
            </a:prstGeom>
            <a:noFill/>
          </p:spPr>
          <p:txBody>
            <a:bodyPr wrap="square" rtlCol="0" anchor="ctr"/>
            <a:lstStyle/>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F1 Score</a:t>
              </a:r>
              <a:endParaRPr lang="en-US" sz="1000" dirty="0"/>
            </a:p>
          </p:txBody>
        </p:sp>
        <p:sp>
          <p:nvSpPr>
            <p:cNvPr id="19" name="Shape 15"/>
            <p:cNvSpPr/>
            <p:nvPr/>
          </p:nvSpPr>
          <p:spPr>
            <a:xfrm>
              <a:off x="11376" y="1656"/>
              <a:ext cx="2520" cy="1440"/>
            </a:xfrm>
            <a:prstGeom prst="roundRect">
              <a:avLst>
                <a:gd name="adj" fmla="val 10000"/>
              </a:avLst>
            </a:prstGeom>
            <a:solidFill>
              <a:srgbClr val="E0F7FA"/>
            </a:solidFill>
            <a:ln w="25400">
              <a:solidFill>
                <a:srgbClr val="00BCD4"/>
              </a:solidFill>
              <a:prstDash val="solid"/>
            </a:ln>
            <a:effectLst>
              <a:outerShdw blurRad="101600" dist="38100" dir="2700000" algn="bl" rotWithShape="0">
                <a:srgbClr val="000000">
                  <a:alpha val="12000"/>
                </a:srgbClr>
              </a:outerShdw>
            </a:effectLst>
          </p:spPr>
        </p:sp>
        <p:sp>
          <p:nvSpPr>
            <p:cNvPr id="20" name="Text 16"/>
            <p:cNvSpPr/>
            <p:nvPr/>
          </p:nvSpPr>
          <p:spPr>
            <a:xfrm>
              <a:off x="11376" y="1728"/>
              <a:ext cx="2520" cy="749"/>
            </a:xfrm>
            <a:prstGeom prst="rect">
              <a:avLst/>
            </a:prstGeom>
            <a:noFill/>
          </p:spPr>
          <p:txBody>
            <a:bodyPr wrap="square" rtlCol="0" anchor="ctr"/>
            <a:lstStyle/>
            <a:p>
              <a:pPr marL="0" indent="0" algn="ctr">
                <a:buNone/>
              </a:pPr>
              <a:r>
                <a:rPr lang="en-US" sz="2200" b="1" dirty="0">
                  <a:solidFill>
                    <a:srgbClr val="0D1B2A"/>
                  </a:solidFill>
                  <a:latin typeface="Calibri" panose="020F0502020204030204" pitchFamily="34" charset="0"/>
                  <a:ea typeface="Calibri" panose="020F0502020204030204" pitchFamily="34" charset="-122"/>
                  <a:cs typeface="Calibri" panose="020F0502020204030204" pitchFamily="34" charset="-120"/>
                </a:rPr>
                <a:t>Only 13</a:t>
              </a:r>
              <a:endParaRPr lang="en-US" sz="2200" dirty="0"/>
            </a:p>
          </p:txBody>
        </p:sp>
        <p:sp>
          <p:nvSpPr>
            <p:cNvPr id="21" name="Text 17"/>
            <p:cNvSpPr/>
            <p:nvPr/>
          </p:nvSpPr>
          <p:spPr>
            <a:xfrm>
              <a:off x="11376" y="2448"/>
              <a:ext cx="2520" cy="504"/>
            </a:xfrm>
            <a:prstGeom prst="rect">
              <a:avLst/>
            </a:prstGeom>
            <a:noFill/>
          </p:spPr>
          <p:txBody>
            <a:bodyPr wrap="square" rtlCol="0" anchor="ctr"/>
            <a:lstStyle/>
            <a:p>
              <a:pPr marL="0" indent="0" algn="ctr">
                <a:buNone/>
              </a:pPr>
              <a:r>
                <a:rPr lang="en-US" sz="1000" dirty="0">
                  <a:solidFill>
                    <a:srgbClr val="455A64"/>
                  </a:solidFill>
                  <a:latin typeface="Calibri" panose="020F0502020204030204" pitchFamily="34" charset="0"/>
                  <a:ea typeface="Calibri" panose="020F0502020204030204" pitchFamily="34" charset="-122"/>
                  <a:cs typeface="Calibri" panose="020F0502020204030204" pitchFamily="34" charset="-120"/>
                </a:rPr>
                <a:t>False Neg.</a:t>
              </a:r>
              <a:endParaRPr lang="en-US" sz="1000" dirty="0"/>
            </a:p>
          </p:txBody>
        </p:sp>
      </p:grpSp>
      <p:sp>
        <p:nvSpPr>
          <p:cNvPr id="44" name="Text Box 43"/>
          <p:cNvSpPr txBox="1"/>
          <p:nvPr/>
        </p:nvSpPr>
        <p:spPr>
          <a:xfrm>
            <a:off x="680720" y="2872105"/>
            <a:ext cx="5846445" cy="645160"/>
          </a:xfrm>
          <a:prstGeom prst="rect">
            <a:avLst/>
          </a:prstGeom>
          <a:noFill/>
        </p:spPr>
        <p:txBody>
          <a:bodyPr wrap="square" rtlCol="0">
            <a:spAutoFit/>
          </a:bodyPr>
          <a:p>
            <a:endParaRPr lang="en-US">
              <a:solidFill>
                <a:srgbClr val="00B0F0"/>
              </a:solidFill>
            </a:endParaRPr>
          </a:p>
          <a:p>
            <a:endParaRPr lang="en-US">
              <a:solidFill>
                <a:srgbClr val="00B0F0"/>
              </a:solidFill>
            </a:endParaRPr>
          </a:p>
        </p:txBody>
      </p:sp>
      <p:sp>
        <p:nvSpPr>
          <p:cNvPr id="46" name="Text Box 45"/>
          <p:cNvSpPr txBox="1"/>
          <p:nvPr/>
        </p:nvSpPr>
        <p:spPr>
          <a:xfrm>
            <a:off x="640080" y="4834890"/>
            <a:ext cx="10693400" cy="368300"/>
          </a:xfrm>
          <a:prstGeom prst="rect">
            <a:avLst/>
          </a:prstGeom>
          <a:noFill/>
        </p:spPr>
        <p:txBody>
          <a:bodyPr wrap="square" rtlCol="0">
            <a:spAutoFit/>
          </a:bodyPr>
          <a:p>
            <a:r>
              <a:rPr lang="en-US" altLang="en-US">
                <a:solidFill>
                  <a:schemeClr val="accent2">
                    <a:lumMod val="75000"/>
                  </a:schemeClr>
                </a:solidFill>
              </a:rPr>
              <a:t>Demo Video: https://drive.google.com/file/d/1I_4bfr2ANk_UAi2Uulo5FHrRsrlQQ50w/view?usp=drivesdk</a:t>
            </a:r>
            <a:endParaRPr lang="en-US" altLang="en-US">
              <a:solidFill>
                <a:schemeClr val="accent2">
                  <a:lumMod val="7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 name="Content Placeholder 44" descr="homepage.png"/>
          <p:cNvPicPr>
            <a:picLocks noChangeAspect="1"/>
          </p:cNvPicPr>
          <p:nvPr>
            <p:ph idx="1"/>
          </p:nvPr>
        </p:nvPicPr>
        <p:blipFill>
          <a:blip r:embed="rId1"/>
          <a:stretch>
            <a:fillRect/>
          </a:stretch>
        </p:blipFill>
        <p:spPr>
          <a:xfrm>
            <a:off x="349885" y="1029335"/>
            <a:ext cx="11389995" cy="5308600"/>
          </a:xfrm>
          <a:prstGeom prst="rect">
            <a:avLst/>
          </a:prstGeom>
        </p:spPr>
      </p:pic>
      <p:sp>
        <p:nvSpPr>
          <p:cNvPr id="5" name="Text Box 4"/>
          <p:cNvSpPr txBox="1"/>
          <p:nvPr/>
        </p:nvSpPr>
        <p:spPr>
          <a:xfrm>
            <a:off x="627380" y="661035"/>
            <a:ext cx="4064000" cy="368300"/>
          </a:xfrm>
          <a:prstGeom prst="rect">
            <a:avLst/>
          </a:prstGeom>
          <a:noFill/>
        </p:spPr>
        <p:txBody>
          <a:bodyPr wrap="square" rtlCol="0">
            <a:spAutoFit/>
          </a:bodyPr>
          <a:p>
            <a:r>
              <a:rPr lang="en-US">
                <a:solidFill>
                  <a:srgbClr val="00B0F0"/>
                </a:solidFill>
              </a:rPr>
              <a:t>Home Page</a:t>
            </a:r>
            <a:endParaRPr lang="en-US">
              <a:solidFill>
                <a:srgbClr val="00B0F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76885" y="627380"/>
            <a:ext cx="4064000" cy="368300"/>
          </a:xfrm>
          <a:prstGeom prst="rect">
            <a:avLst/>
          </a:prstGeom>
          <a:noFill/>
        </p:spPr>
        <p:txBody>
          <a:bodyPr wrap="square" rtlCol="0">
            <a:spAutoFit/>
          </a:bodyPr>
          <a:p>
            <a:r>
              <a:rPr lang="en-US" b="1" u="sng">
                <a:solidFill>
                  <a:srgbClr val="00B0F0"/>
                </a:solidFill>
              </a:rPr>
              <a:t>Fake Job Detection(Input)</a:t>
            </a:r>
            <a:endParaRPr lang="en-US" b="1" u="sng">
              <a:solidFill>
                <a:srgbClr val="00B0F0"/>
              </a:solidFill>
            </a:endParaRPr>
          </a:p>
        </p:txBody>
      </p:sp>
      <p:pic>
        <p:nvPicPr>
          <p:cNvPr id="6" name="Picture 5" descr="fake_job_input.png"/>
          <p:cNvPicPr>
            <a:picLocks noChangeAspect="1"/>
          </p:cNvPicPr>
          <p:nvPr/>
        </p:nvPicPr>
        <p:blipFill>
          <a:blip r:embed="rId1"/>
          <a:stretch>
            <a:fillRect/>
          </a:stretch>
        </p:blipFill>
        <p:spPr>
          <a:xfrm>
            <a:off x="476885" y="1089025"/>
            <a:ext cx="11240135" cy="53784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descr="fake_job_result1.png"/>
          <p:cNvPicPr>
            <a:picLocks noChangeAspect="1"/>
          </p:cNvPicPr>
          <p:nvPr/>
        </p:nvPicPr>
        <p:blipFill>
          <a:blip r:embed="rId1"/>
          <a:stretch>
            <a:fillRect/>
          </a:stretch>
        </p:blipFill>
        <p:spPr>
          <a:xfrm>
            <a:off x="415925" y="1345565"/>
            <a:ext cx="11172825" cy="5089525"/>
          </a:xfrm>
          <a:prstGeom prst="rect">
            <a:avLst/>
          </a:prstGeom>
        </p:spPr>
      </p:pic>
      <p:sp>
        <p:nvSpPr>
          <p:cNvPr id="2" name="Text Box 1"/>
          <p:cNvSpPr txBox="1"/>
          <p:nvPr/>
        </p:nvSpPr>
        <p:spPr>
          <a:xfrm>
            <a:off x="415925" y="758190"/>
            <a:ext cx="6096000" cy="368300"/>
          </a:xfrm>
          <a:prstGeom prst="rect">
            <a:avLst/>
          </a:prstGeom>
          <a:noFill/>
        </p:spPr>
        <p:txBody>
          <a:bodyPr wrap="square" rtlCol="0" anchor="t">
            <a:spAutoFit/>
          </a:bodyPr>
          <a:p>
            <a:r>
              <a:rPr lang="en-US" b="1" u="sng">
                <a:solidFill>
                  <a:srgbClr val="00B0F0"/>
                </a:solidFill>
                <a:sym typeface="+mn-ea"/>
              </a:rPr>
              <a:t>Fake Job Detection(ML Analysis)</a:t>
            </a:r>
            <a:endParaRPr lang="en-US" b="1" u="sng">
              <a:solidFill>
                <a:srgbClr val="00B0F0"/>
              </a:solidFill>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descr="fake_job_result2.png"/>
          <p:cNvPicPr>
            <a:picLocks noChangeAspect="1"/>
          </p:cNvPicPr>
          <p:nvPr/>
        </p:nvPicPr>
        <p:blipFill>
          <a:blip r:embed="rId1"/>
          <a:stretch>
            <a:fillRect/>
          </a:stretch>
        </p:blipFill>
        <p:spPr>
          <a:xfrm>
            <a:off x="180975" y="1183640"/>
            <a:ext cx="11743055" cy="5164455"/>
          </a:xfrm>
          <a:prstGeom prst="rect">
            <a:avLst/>
          </a:prstGeom>
        </p:spPr>
      </p:pic>
      <p:sp>
        <p:nvSpPr>
          <p:cNvPr id="2" name="Text Box 1"/>
          <p:cNvSpPr txBox="1"/>
          <p:nvPr/>
        </p:nvSpPr>
        <p:spPr>
          <a:xfrm>
            <a:off x="426085" y="698500"/>
            <a:ext cx="6096000" cy="368300"/>
          </a:xfrm>
          <a:prstGeom prst="rect">
            <a:avLst/>
          </a:prstGeom>
          <a:noFill/>
        </p:spPr>
        <p:txBody>
          <a:bodyPr wrap="square" rtlCol="0" anchor="t">
            <a:spAutoFit/>
          </a:bodyPr>
          <a:p>
            <a:r>
              <a:rPr lang="en-US" b="1" u="sng">
                <a:solidFill>
                  <a:srgbClr val="00B0F0"/>
                </a:solidFill>
                <a:sym typeface="+mn-ea"/>
              </a:rPr>
              <a:t>Fake Job Detection(AI Analysis)</a:t>
            </a:r>
            <a:endParaRPr lang="en-US" b="1" u="sng">
              <a:solidFill>
                <a:srgbClr val="00B0F0"/>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fake_job_warning.png"/>
          <p:cNvPicPr>
            <a:picLocks noChangeAspect="1"/>
          </p:cNvPicPr>
          <p:nvPr/>
        </p:nvPicPr>
        <p:blipFill>
          <a:blip r:embed="rId1"/>
          <a:stretch>
            <a:fillRect/>
          </a:stretch>
        </p:blipFill>
        <p:spPr>
          <a:xfrm>
            <a:off x="485775" y="731520"/>
            <a:ext cx="11471275" cy="56889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09905" y="702945"/>
            <a:ext cx="4064000" cy="368300"/>
          </a:xfrm>
          <a:prstGeom prst="rect">
            <a:avLst/>
          </a:prstGeom>
          <a:noFill/>
        </p:spPr>
        <p:txBody>
          <a:bodyPr wrap="square" rtlCol="0">
            <a:spAutoFit/>
          </a:bodyPr>
          <a:p>
            <a:r>
              <a:rPr lang="en-US" b="1" u="sng">
                <a:solidFill>
                  <a:srgbClr val="00B0F0"/>
                </a:solidFill>
              </a:rPr>
              <a:t>Real Job Detection(Input)</a:t>
            </a:r>
            <a:endParaRPr lang="en-US" b="1" u="sng">
              <a:solidFill>
                <a:srgbClr val="00B0F0"/>
              </a:solidFill>
            </a:endParaRPr>
          </a:p>
        </p:txBody>
      </p:sp>
      <p:pic>
        <p:nvPicPr>
          <p:cNvPr id="10" name="Picture 9" descr="real_job_input.png"/>
          <p:cNvPicPr>
            <a:picLocks noChangeAspect="1"/>
          </p:cNvPicPr>
          <p:nvPr/>
        </p:nvPicPr>
        <p:blipFill>
          <a:blip r:embed="rId1"/>
          <a:stretch>
            <a:fillRect/>
          </a:stretch>
        </p:blipFill>
        <p:spPr>
          <a:xfrm>
            <a:off x="173990" y="1125220"/>
            <a:ext cx="11837670" cy="52965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Picture 10" descr="real_job_result1.png"/>
          <p:cNvPicPr>
            <a:picLocks noChangeAspect="1"/>
          </p:cNvPicPr>
          <p:nvPr/>
        </p:nvPicPr>
        <p:blipFill>
          <a:blip r:embed="rId1"/>
          <a:stretch>
            <a:fillRect/>
          </a:stretch>
        </p:blipFill>
        <p:spPr>
          <a:xfrm>
            <a:off x="168910" y="989965"/>
            <a:ext cx="11684635" cy="5426075"/>
          </a:xfrm>
          <a:prstGeom prst="rect">
            <a:avLst/>
          </a:prstGeom>
        </p:spPr>
      </p:pic>
      <p:sp>
        <p:nvSpPr>
          <p:cNvPr id="2" name="Text Box 1"/>
          <p:cNvSpPr txBox="1"/>
          <p:nvPr/>
        </p:nvSpPr>
        <p:spPr>
          <a:xfrm>
            <a:off x="426085" y="621665"/>
            <a:ext cx="6096000" cy="368300"/>
          </a:xfrm>
          <a:prstGeom prst="rect">
            <a:avLst/>
          </a:prstGeom>
          <a:noFill/>
        </p:spPr>
        <p:txBody>
          <a:bodyPr wrap="square" rtlCol="0" anchor="t">
            <a:spAutoFit/>
          </a:bodyPr>
          <a:p>
            <a:r>
              <a:rPr lang="en-US" b="1" u="sng">
                <a:solidFill>
                  <a:srgbClr val="00B0F0"/>
                </a:solidFill>
                <a:sym typeface="+mn-ea"/>
              </a:rPr>
              <a:t>Real Job Detection(ML Analysis)</a:t>
            </a:r>
            <a:endParaRPr lang="en-US" b="1" u="sng">
              <a:solidFill>
                <a:srgbClr val="00B0F0"/>
              </a:solidFill>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Picture 11" descr="real_job_result2.png"/>
          <p:cNvPicPr>
            <a:picLocks noChangeAspect="1"/>
          </p:cNvPicPr>
          <p:nvPr/>
        </p:nvPicPr>
        <p:blipFill>
          <a:blip r:embed="rId1"/>
          <a:stretch>
            <a:fillRect/>
          </a:stretch>
        </p:blipFill>
        <p:spPr>
          <a:xfrm>
            <a:off x="145415" y="1115060"/>
            <a:ext cx="11780520" cy="5243830"/>
          </a:xfrm>
          <a:prstGeom prst="rect">
            <a:avLst/>
          </a:prstGeom>
        </p:spPr>
      </p:pic>
      <p:sp>
        <p:nvSpPr>
          <p:cNvPr id="2" name="Text Box 1"/>
          <p:cNvSpPr txBox="1"/>
          <p:nvPr/>
        </p:nvSpPr>
        <p:spPr>
          <a:xfrm>
            <a:off x="450850" y="681355"/>
            <a:ext cx="6096000" cy="368300"/>
          </a:xfrm>
          <a:prstGeom prst="rect">
            <a:avLst/>
          </a:prstGeom>
          <a:noFill/>
        </p:spPr>
        <p:txBody>
          <a:bodyPr wrap="square" rtlCol="0" anchor="t">
            <a:spAutoFit/>
          </a:bodyPr>
          <a:p>
            <a:r>
              <a:rPr lang="en-US" b="1" u="sng">
                <a:solidFill>
                  <a:srgbClr val="00B0F0"/>
                </a:solidFill>
                <a:sym typeface="+mn-ea"/>
              </a:rPr>
              <a:t>Real Job Detection(AI Analysis)</a:t>
            </a:r>
            <a:endParaRPr lang="en-US" b="1" u="sng">
              <a:solidFill>
                <a:srgbClr val="00B0F0"/>
              </a:solidFill>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8" descr="real_job_safety.png"/>
          <p:cNvPicPr>
            <a:picLocks noChangeAspect="1"/>
          </p:cNvPicPr>
          <p:nvPr/>
        </p:nvPicPr>
        <p:blipFill>
          <a:blip r:embed="rId1"/>
          <a:stretch>
            <a:fillRect/>
          </a:stretch>
        </p:blipFill>
        <p:spPr>
          <a:xfrm>
            <a:off x="185420" y="708025"/>
            <a:ext cx="11670665" cy="56800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59740" y="719455"/>
            <a:ext cx="4064000" cy="368300"/>
          </a:xfrm>
          <a:prstGeom prst="rect">
            <a:avLst/>
          </a:prstGeom>
          <a:noFill/>
        </p:spPr>
        <p:txBody>
          <a:bodyPr wrap="square" rtlCol="0">
            <a:spAutoFit/>
          </a:bodyPr>
          <a:p>
            <a:r>
              <a:rPr lang="en-US" b="1" u="sng">
                <a:solidFill>
                  <a:srgbClr val="00B0F0"/>
                </a:solidFill>
              </a:rPr>
              <a:t>Email Scanner(Input)</a:t>
            </a:r>
            <a:endParaRPr lang="en-US" b="1" u="sng">
              <a:solidFill>
                <a:srgbClr val="00B0F0"/>
              </a:solidFill>
            </a:endParaRPr>
          </a:p>
        </p:txBody>
      </p:sp>
      <p:pic>
        <p:nvPicPr>
          <p:cNvPr id="5" name="Picture 4" descr="email_upload2.png"/>
          <p:cNvPicPr>
            <a:picLocks noChangeAspect="1"/>
          </p:cNvPicPr>
          <p:nvPr/>
        </p:nvPicPr>
        <p:blipFill>
          <a:blip r:embed="rId1"/>
          <a:stretch>
            <a:fillRect/>
          </a:stretch>
        </p:blipFill>
        <p:spPr>
          <a:xfrm>
            <a:off x="6045835" y="1137920"/>
            <a:ext cx="6146165" cy="5106670"/>
          </a:xfrm>
          <a:prstGeom prst="rect">
            <a:avLst/>
          </a:prstGeom>
        </p:spPr>
      </p:pic>
      <p:pic>
        <p:nvPicPr>
          <p:cNvPr id="8" name="Picture 7" descr="email_upload1.png"/>
          <p:cNvPicPr>
            <a:picLocks noChangeAspect="1"/>
          </p:cNvPicPr>
          <p:nvPr/>
        </p:nvPicPr>
        <p:blipFill>
          <a:blip r:embed="rId2"/>
          <a:stretch>
            <a:fillRect/>
          </a:stretch>
        </p:blipFill>
        <p:spPr>
          <a:xfrm>
            <a:off x="635" y="1137920"/>
            <a:ext cx="6045200" cy="51066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descr="email_result2.png"/>
          <p:cNvPicPr>
            <a:picLocks noChangeAspect="1"/>
          </p:cNvPicPr>
          <p:nvPr/>
        </p:nvPicPr>
        <p:blipFill>
          <a:blip r:embed="rId1"/>
          <a:stretch>
            <a:fillRect/>
          </a:stretch>
        </p:blipFill>
        <p:spPr>
          <a:xfrm>
            <a:off x="6286500" y="1176020"/>
            <a:ext cx="5803900" cy="5250180"/>
          </a:xfrm>
          <a:prstGeom prst="rect">
            <a:avLst/>
          </a:prstGeom>
        </p:spPr>
      </p:pic>
      <p:pic>
        <p:nvPicPr>
          <p:cNvPr id="6" name="Picture 5" descr="email_result1.png"/>
          <p:cNvPicPr>
            <a:picLocks noChangeAspect="1"/>
          </p:cNvPicPr>
          <p:nvPr/>
        </p:nvPicPr>
        <p:blipFill>
          <a:blip r:embed="rId2"/>
          <a:stretch>
            <a:fillRect/>
          </a:stretch>
        </p:blipFill>
        <p:spPr>
          <a:xfrm>
            <a:off x="0" y="1176655"/>
            <a:ext cx="6286500" cy="5249545"/>
          </a:xfrm>
          <a:prstGeom prst="rect">
            <a:avLst/>
          </a:prstGeom>
        </p:spPr>
      </p:pic>
      <p:sp>
        <p:nvSpPr>
          <p:cNvPr id="2" name="Text Box 1"/>
          <p:cNvSpPr txBox="1"/>
          <p:nvPr/>
        </p:nvSpPr>
        <p:spPr>
          <a:xfrm>
            <a:off x="450850" y="664845"/>
            <a:ext cx="6096000" cy="368300"/>
          </a:xfrm>
          <a:prstGeom prst="rect">
            <a:avLst/>
          </a:prstGeom>
          <a:noFill/>
        </p:spPr>
        <p:txBody>
          <a:bodyPr wrap="square" rtlCol="0" anchor="t">
            <a:spAutoFit/>
          </a:bodyPr>
          <a:p>
            <a:r>
              <a:rPr lang="en-US" b="1" u="sng">
                <a:solidFill>
                  <a:srgbClr val="00B0F0"/>
                </a:solidFill>
                <a:sym typeface="+mn-ea"/>
              </a:rPr>
              <a:t>Email Scanner(AI Detection)</a:t>
            </a:r>
            <a:endParaRPr lang="en-US" b="1" u="sng">
              <a:solidFill>
                <a:srgbClr val="00B0F0"/>
              </a:solidFill>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76250" y="727710"/>
            <a:ext cx="4064000" cy="368300"/>
          </a:xfrm>
          <a:prstGeom prst="rect">
            <a:avLst/>
          </a:prstGeom>
          <a:noFill/>
        </p:spPr>
        <p:txBody>
          <a:bodyPr wrap="square" rtlCol="0">
            <a:spAutoFit/>
          </a:bodyPr>
          <a:p>
            <a:r>
              <a:rPr lang="en-US" b="1" u="sng">
                <a:solidFill>
                  <a:srgbClr val="00B0F0"/>
                </a:solidFill>
              </a:rPr>
              <a:t>Offer Letter Scanner(Input)</a:t>
            </a:r>
            <a:endParaRPr lang="en-US" b="1" u="sng">
              <a:solidFill>
                <a:srgbClr val="00B0F0"/>
              </a:solidFill>
            </a:endParaRPr>
          </a:p>
        </p:txBody>
      </p:sp>
      <p:pic>
        <p:nvPicPr>
          <p:cNvPr id="5" name="Picture 4" descr="offerletter2_upload.png"/>
          <p:cNvPicPr>
            <a:picLocks noChangeAspect="1"/>
          </p:cNvPicPr>
          <p:nvPr/>
        </p:nvPicPr>
        <p:blipFill>
          <a:blip r:embed="rId1"/>
          <a:stretch>
            <a:fillRect/>
          </a:stretch>
        </p:blipFill>
        <p:spPr>
          <a:xfrm>
            <a:off x="6096000" y="1183005"/>
            <a:ext cx="5817235" cy="5281930"/>
          </a:xfrm>
          <a:prstGeom prst="rect">
            <a:avLst/>
          </a:prstGeom>
        </p:spPr>
      </p:pic>
      <p:pic>
        <p:nvPicPr>
          <p:cNvPr id="8" name="Picture 7" descr="offerletter1_upload.png"/>
          <p:cNvPicPr>
            <a:picLocks noChangeAspect="1"/>
          </p:cNvPicPr>
          <p:nvPr/>
        </p:nvPicPr>
        <p:blipFill>
          <a:blip r:embed="rId2"/>
          <a:stretch>
            <a:fillRect/>
          </a:stretch>
        </p:blipFill>
        <p:spPr>
          <a:xfrm>
            <a:off x="0" y="1183640"/>
            <a:ext cx="6096635" cy="52812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descr="offerletter_result2.png"/>
          <p:cNvPicPr>
            <a:picLocks noChangeAspect="1"/>
          </p:cNvPicPr>
          <p:nvPr/>
        </p:nvPicPr>
        <p:blipFill>
          <a:blip r:embed="rId1"/>
          <a:stretch>
            <a:fillRect/>
          </a:stretch>
        </p:blipFill>
        <p:spPr>
          <a:xfrm>
            <a:off x="6096635" y="1232535"/>
            <a:ext cx="6096000" cy="5109210"/>
          </a:xfrm>
          <a:prstGeom prst="rect">
            <a:avLst/>
          </a:prstGeom>
        </p:spPr>
      </p:pic>
      <p:pic>
        <p:nvPicPr>
          <p:cNvPr id="6" name="Picture 5" descr="offerletter_result1.png"/>
          <p:cNvPicPr>
            <a:picLocks noChangeAspect="1"/>
          </p:cNvPicPr>
          <p:nvPr/>
        </p:nvPicPr>
        <p:blipFill>
          <a:blip r:embed="rId2"/>
          <a:stretch>
            <a:fillRect/>
          </a:stretch>
        </p:blipFill>
        <p:spPr>
          <a:xfrm>
            <a:off x="0" y="1232535"/>
            <a:ext cx="6096000" cy="5109210"/>
          </a:xfrm>
          <a:prstGeom prst="rect">
            <a:avLst/>
          </a:prstGeom>
        </p:spPr>
      </p:pic>
      <p:sp>
        <p:nvSpPr>
          <p:cNvPr id="2" name="Text Box 1"/>
          <p:cNvSpPr txBox="1"/>
          <p:nvPr/>
        </p:nvSpPr>
        <p:spPr>
          <a:xfrm>
            <a:off x="450850" y="748665"/>
            <a:ext cx="6096000" cy="368300"/>
          </a:xfrm>
          <a:prstGeom prst="rect">
            <a:avLst/>
          </a:prstGeom>
          <a:noFill/>
        </p:spPr>
        <p:txBody>
          <a:bodyPr wrap="square" rtlCol="0" anchor="t">
            <a:spAutoFit/>
          </a:bodyPr>
          <a:p>
            <a:r>
              <a:rPr lang="en-US" b="1" u="sng">
                <a:solidFill>
                  <a:srgbClr val="00B0F0"/>
                </a:solidFill>
                <a:sym typeface="+mn-ea"/>
              </a:rPr>
              <a:t>Offer Letter Scanner(AI Detection)</a:t>
            </a:r>
            <a:endParaRPr lang="en-US" b="1" u="sng">
              <a:solidFill>
                <a:srgbClr val="00B0F0"/>
              </a:solidFill>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descr="company_input.png"/>
          <p:cNvPicPr>
            <a:picLocks noChangeAspect="1"/>
          </p:cNvPicPr>
          <p:nvPr/>
        </p:nvPicPr>
        <p:blipFill>
          <a:blip r:embed="rId1"/>
          <a:stretch>
            <a:fillRect/>
          </a:stretch>
        </p:blipFill>
        <p:spPr>
          <a:xfrm>
            <a:off x="351155" y="1040765"/>
            <a:ext cx="11554460" cy="5386070"/>
          </a:xfrm>
          <a:prstGeom prst="rect">
            <a:avLst/>
          </a:prstGeom>
        </p:spPr>
      </p:pic>
      <p:sp>
        <p:nvSpPr>
          <p:cNvPr id="9" name="Text Box 8"/>
          <p:cNvSpPr txBox="1"/>
          <p:nvPr/>
        </p:nvSpPr>
        <p:spPr>
          <a:xfrm>
            <a:off x="448310" y="672465"/>
            <a:ext cx="4064000" cy="368300"/>
          </a:xfrm>
          <a:prstGeom prst="rect">
            <a:avLst/>
          </a:prstGeom>
          <a:noFill/>
        </p:spPr>
        <p:txBody>
          <a:bodyPr wrap="square" rtlCol="0">
            <a:spAutoFit/>
          </a:bodyPr>
          <a:p>
            <a:r>
              <a:rPr lang="en-US" b="1" u="sng">
                <a:solidFill>
                  <a:srgbClr val="00B0F0"/>
                </a:solidFill>
              </a:rPr>
              <a:t>Company Checker</a:t>
            </a:r>
            <a:endParaRPr lang="en-US" b="1" u="sng">
              <a:solidFill>
                <a:srgbClr val="00B0F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descr="company_result3.png"/>
          <p:cNvPicPr>
            <a:picLocks noChangeAspect="1"/>
          </p:cNvPicPr>
          <p:nvPr/>
        </p:nvPicPr>
        <p:blipFill>
          <a:blip r:embed="rId1"/>
          <a:stretch>
            <a:fillRect/>
          </a:stretch>
        </p:blipFill>
        <p:spPr>
          <a:xfrm>
            <a:off x="424180" y="704215"/>
            <a:ext cx="11214100" cy="57588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descr="company_result2.png"/>
          <p:cNvPicPr>
            <a:picLocks noChangeAspect="1"/>
          </p:cNvPicPr>
          <p:nvPr/>
        </p:nvPicPr>
        <p:blipFill>
          <a:blip r:embed="rId1"/>
          <a:stretch>
            <a:fillRect/>
          </a:stretch>
        </p:blipFill>
        <p:spPr>
          <a:xfrm>
            <a:off x="225425" y="682625"/>
            <a:ext cx="11562080" cy="56921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descr="company_result1.png"/>
          <p:cNvPicPr>
            <a:picLocks noChangeAspect="1"/>
          </p:cNvPicPr>
          <p:nvPr/>
        </p:nvPicPr>
        <p:blipFill>
          <a:blip r:embed="rId1"/>
          <a:stretch>
            <a:fillRect/>
          </a:stretch>
        </p:blipFill>
        <p:spPr>
          <a:xfrm>
            <a:off x="0" y="1132840"/>
            <a:ext cx="6523990" cy="5248910"/>
          </a:xfrm>
          <a:prstGeom prst="rect">
            <a:avLst/>
          </a:prstGeom>
        </p:spPr>
      </p:pic>
      <p:pic>
        <p:nvPicPr>
          <p:cNvPr id="4" name="Picture 3" descr="company_result4.png"/>
          <p:cNvPicPr>
            <a:picLocks noChangeAspect="1"/>
          </p:cNvPicPr>
          <p:nvPr/>
        </p:nvPicPr>
        <p:blipFill>
          <a:blip r:embed="rId2"/>
          <a:stretch>
            <a:fillRect/>
          </a:stretch>
        </p:blipFill>
        <p:spPr>
          <a:xfrm>
            <a:off x="6523990" y="1132840"/>
            <a:ext cx="5583555" cy="52495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Conclusion</a:t>
            </a:r>
            <a:endParaRPr lang="en-US"/>
          </a:p>
        </p:txBody>
      </p:sp>
      <p:sp>
        <p:nvSpPr>
          <p:cNvPr id="4" name="Text 1"/>
          <p:cNvSpPr/>
          <p:nvPr/>
        </p:nvSpPr>
        <p:spPr>
          <a:xfrm>
            <a:off x="457200" y="91440"/>
            <a:ext cx="8229600" cy="457200"/>
          </a:xfrm>
          <a:prstGeom prst="rect">
            <a:avLst/>
          </a:prstGeom>
          <a:noFill/>
        </p:spPr>
        <p:txBody>
          <a:bodyPr wrap="square" rtlCol="0" anchor="ctr"/>
          <a:lstStyle/>
          <a:p>
            <a:pPr marL="0" indent="0">
              <a:buNone/>
            </a:pPr>
            <a:r>
              <a:rPr lang="en-US" sz="26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CONCLUSION</a:t>
            </a:r>
            <a:endParaRPr lang="en-US" sz="2600" dirty="0"/>
          </a:p>
        </p:txBody>
      </p:sp>
      <p:sp>
        <p:nvSpPr>
          <p:cNvPr id="6" name="Text 2"/>
          <p:cNvSpPr/>
          <p:nvPr/>
        </p:nvSpPr>
        <p:spPr>
          <a:xfrm>
            <a:off x="701040" y="1135507"/>
            <a:ext cx="8229600" cy="347472"/>
          </a:xfrm>
          <a:prstGeom prst="rect">
            <a:avLst/>
          </a:prstGeom>
          <a:noFill/>
        </p:spPr>
        <p:txBody>
          <a:bodyPr wrap="square" rtlCol="0" anchor="ctr"/>
          <a:lstStyle/>
          <a:p>
            <a:pPr marL="0" indent="0">
              <a:buNone/>
            </a:pPr>
            <a:r>
              <a:rPr lang="en-US" sz="1300" i="1" dirty="0">
                <a:solidFill>
                  <a:srgbClr val="00BCD4"/>
                </a:solidFill>
                <a:latin typeface="Calibri" panose="020F0502020204030204" pitchFamily="34" charset="0"/>
                <a:ea typeface="Calibri" panose="020F0502020204030204" pitchFamily="34" charset="-122"/>
                <a:cs typeface="Calibri" panose="020F0502020204030204" pitchFamily="34" charset="-120"/>
              </a:rPr>
              <a:t>Key achievements and social impact of the AI Job Scam Detector</a:t>
            </a:r>
            <a:endParaRPr lang="en-US" sz="1300" dirty="0"/>
          </a:p>
        </p:txBody>
      </p:sp>
      <p:grpSp>
        <p:nvGrpSpPr>
          <p:cNvPr id="28" name="Group 27"/>
          <p:cNvGrpSpPr/>
          <p:nvPr/>
        </p:nvGrpSpPr>
        <p:grpSpPr>
          <a:xfrm>
            <a:off x="206375" y="1555750"/>
            <a:ext cx="11722735" cy="1000760"/>
            <a:chOff x="576" y="1699"/>
            <a:chExt cx="13248" cy="1440"/>
          </a:xfrm>
        </p:grpSpPr>
        <p:sp>
          <p:nvSpPr>
            <p:cNvPr id="7" name="Shape 3"/>
            <p:cNvSpPr/>
            <p:nvPr/>
          </p:nvSpPr>
          <p:spPr>
            <a:xfrm>
              <a:off x="576" y="1699"/>
              <a:ext cx="13248" cy="1440"/>
            </a:xfrm>
            <a:prstGeom prst="roundRect">
              <a:avLst>
                <a:gd name="adj" fmla="val 10000"/>
              </a:avLst>
            </a:prstGeom>
            <a:solidFill>
              <a:srgbClr val="162032"/>
            </a:solidFill>
            <a:ln w="19050">
              <a:solidFill>
                <a:srgbClr val="00BCD4"/>
              </a:solidFill>
              <a:prstDash val="solid"/>
            </a:ln>
          </p:spPr>
        </p:sp>
        <p:sp>
          <p:nvSpPr>
            <p:cNvPr id="8" name="Text 4"/>
            <p:cNvSpPr/>
            <p:nvPr/>
          </p:nvSpPr>
          <p:spPr>
            <a:xfrm>
              <a:off x="864" y="1800"/>
              <a:ext cx="12672" cy="1267"/>
            </a:xfrm>
            <a:prstGeom prst="rect">
              <a:avLst/>
            </a:prstGeom>
            <a:noFill/>
          </p:spPr>
          <p:txBody>
            <a:bodyPr wrap="square" rtlCol="0" anchor="ctr"/>
            <a:lstStyle/>
            <a:p>
              <a:pPr marL="0" indent="0">
                <a:buNone/>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Successfully built and deployed an AI-powered fake job detection system that achieves 97.7% accuracy with 88% recall on fraudulent postings. The system combines the speed of Machine Learning with the intelligence of Google Gemini AI to provide both fast detection and clear, actionable explanations — protecting Indian graduates from financial and personal harm.</a:t>
              </a:r>
              <a:endParaRPr lang="en-US" sz="1150" dirty="0"/>
            </a:p>
          </p:txBody>
        </p:sp>
      </p:grpSp>
      <p:grpSp>
        <p:nvGrpSpPr>
          <p:cNvPr id="27" name="Group 26"/>
          <p:cNvGrpSpPr/>
          <p:nvPr/>
        </p:nvGrpSpPr>
        <p:grpSpPr>
          <a:xfrm>
            <a:off x="206375" y="2800350"/>
            <a:ext cx="11816715" cy="3599180"/>
            <a:chOff x="576" y="3427"/>
            <a:chExt cx="13320" cy="4032"/>
          </a:xfrm>
        </p:grpSpPr>
        <p:sp>
          <p:nvSpPr>
            <p:cNvPr id="9" name="Shape 5"/>
            <p:cNvSpPr/>
            <p:nvPr/>
          </p:nvSpPr>
          <p:spPr>
            <a:xfrm>
              <a:off x="576" y="3427"/>
              <a:ext cx="4248" cy="4032"/>
            </a:xfrm>
            <a:prstGeom prst="roundRect">
              <a:avLst>
                <a:gd name="adj" fmla="val 3571"/>
              </a:avLst>
            </a:prstGeom>
            <a:solidFill>
              <a:srgbClr val="162032"/>
            </a:solidFill>
            <a:ln w="12700">
              <a:solidFill>
                <a:srgbClr val="00BCD4"/>
              </a:solidFill>
              <a:prstDash val="solid"/>
            </a:ln>
            <a:effectLst>
              <a:outerShdw blurRad="101600" dist="38100" dir="2700000" algn="bl" rotWithShape="0">
                <a:srgbClr val="000000">
                  <a:alpha val="12000"/>
                </a:srgbClr>
              </a:outerShdw>
            </a:effectLst>
          </p:spPr>
        </p:sp>
        <p:sp>
          <p:nvSpPr>
            <p:cNvPr id="10" name="Text 6"/>
            <p:cNvSpPr/>
            <p:nvPr/>
          </p:nvSpPr>
          <p:spPr>
            <a:xfrm>
              <a:off x="792" y="3542"/>
              <a:ext cx="3816" cy="605"/>
            </a:xfrm>
            <a:prstGeom prst="rect">
              <a:avLst/>
            </a:prstGeom>
            <a:noFill/>
          </p:spPr>
          <p:txBody>
            <a:bodyPr wrap="square" rtlCol="0" anchor="ctr"/>
            <a:lstStyle/>
            <a:p>
              <a:pPr marL="0" indent="0">
                <a:buNone/>
              </a:pPr>
              <a:r>
                <a:rPr lang="en-US" sz="1100" b="1" dirty="0">
                  <a:solidFill>
                    <a:srgbClr val="00BCD4"/>
                  </a:solidFill>
                  <a:latin typeface="Calibri" panose="020F0502020204030204" pitchFamily="34" charset="0"/>
                  <a:ea typeface="Calibri" panose="020F0502020204030204" pitchFamily="34" charset="-122"/>
                  <a:cs typeface="Calibri" panose="020F0502020204030204" pitchFamily="34" charset="-120"/>
                </a:rPr>
                <a:t>🎯  Technical Achievement</a:t>
              </a:r>
              <a:endParaRPr lang="en-US" sz="1100" dirty="0"/>
            </a:p>
          </p:txBody>
        </p:sp>
        <p:sp>
          <p:nvSpPr>
            <p:cNvPr id="11" name="Text 7"/>
            <p:cNvSpPr/>
            <p:nvPr/>
          </p:nvSpPr>
          <p:spPr>
            <a:xfrm>
              <a:off x="792" y="4248"/>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Trained on 14,107 real job postings</a:t>
              </a:r>
              <a:endParaRPr lang="en-US" sz="1000" dirty="0"/>
            </a:p>
          </p:txBody>
        </p:sp>
        <p:sp>
          <p:nvSpPr>
            <p:cNvPr id="12" name="Text 8"/>
            <p:cNvSpPr/>
            <p:nvPr/>
          </p:nvSpPr>
          <p:spPr>
            <a:xfrm>
              <a:off x="792" y="5040"/>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88% fraud recall — catches most fake jobs</a:t>
              </a:r>
              <a:endParaRPr lang="en-US" sz="1000" dirty="0"/>
            </a:p>
          </p:txBody>
        </p:sp>
        <p:sp>
          <p:nvSpPr>
            <p:cNvPr id="13" name="Text 9"/>
            <p:cNvSpPr/>
            <p:nvPr/>
          </p:nvSpPr>
          <p:spPr>
            <a:xfrm>
              <a:off x="792" y="5832"/>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Only 13 false negatives per 104 fake jobs</a:t>
              </a:r>
              <a:endParaRPr lang="en-US" sz="1000" dirty="0"/>
            </a:p>
          </p:txBody>
        </p:sp>
        <p:sp>
          <p:nvSpPr>
            <p:cNvPr id="14" name="Text 10"/>
            <p:cNvSpPr/>
            <p:nvPr/>
          </p:nvSpPr>
          <p:spPr>
            <a:xfrm>
              <a:off x="792" y="6624"/>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Balanced class weights handle data imbalance</a:t>
              </a:r>
              <a:endParaRPr lang="en-US" sz="1000" dirty="0"/>
            </a:p>
          </p:txBody>
        </p:sp>
        <p:sp>
          <p:nvSpPr>
            <p:cNvPr id="15" name="Shape 11"/>
            <p:cNvSpPr/>
            <p:nvPr/>
          </p:nvSpPr>
          <p:spPr>
            <a:xfrm>
              <a:off x="5112" y="3427"/>
              <a:ext cx="4248" cy="4032"/>
            </a:xfrm>
            <a:prstGeom prst="roundRect">
              <a:avLst>
                <a:gd name="adj" fmla="val 3571"/>
              </a:avLst>
            </a:prstGeom>
            <a:solidFill>
              <a:srgbClr val="162032"/>
            </a:solidFill>
            <a:ln w="12700">
              <a:solidFill>
                <a:srgbClr val="00BCD4"/>
              </a:solidFill>
              <a:prstDash val="solid"/>
            </a:ln>
            <a:effectLst>
              <a:outerShdw blurRad="101600" dist="38100" dir="2700000" algn="bl" rotWithShape="0">
                <a:srgbClr val="000000">
                  <a:alpha val="12000"/>
                </a:srgbClr>
              </a:outerShdw>
            </a:effectLst>
          </p:spPr>
        </p:sp>
        <p:sp>
          <p:nvSpPr>
            <p:cNvPr id="16" name="Text 12"/>
            <p:cNvSpPr/>
            <p:nvPr/>
          </p:nvSpPr>
          <p:spPr>
            <a:xfrm>
              <a:off x="5328" y="3542"/>
              <a:ext cx="3816" cy="605"/>
            </a:xfrm>
            <a:prstGeom prst="rect">
              <a:avLst/>
            </a:prstGeom>
            <a:noFill/>
          </p:spPr>
          <p:txBody>
            <a:bodyPr wrap="square" rtlCol="0" anchor="ctr"/>
            <a:lstStyle/>
            <a:p>
              <a:pPr marL="0" indent="0">
                <a:buNone/>
              </a:pPr>
              <a:r>
                <a:rPr lang="en-US" sz="1100" b="1" dirty="0">
                  <a:solidFill>
                    <a:srgbClr val="00BCD4"/>
                  </a:solidFill>
                  <a:latin typeface="Calibri" panose="020F0502020204030204" pitchFamily="34" charset="0"/>
                  <a:ea typeface="Calibri" panose="020F0502020204030204" pitchFamily="34" charset="-122"/>
                  <a:cs typeface="Calibri" panose="020F0502020204030204" pitchFamily="34" charset="-120"/>
                </a:rPr>
                <a:t>🧠  AI Integration</a:t>
              </a:r>
              <a:endParaRPr lang="en-US" sz="1100" dirty="0"/>
            </a:p>
          </p:txBody>
        </p:sp>
        <p:sp>
          <p:nvSpPr>
            <p:cNvPr id="17" name="Text 13"/>
            <p:cNvSpPr/>
            <p:nvPr/>
          </p:nvSpPr>
          <p:spPr>
            <a:xfrm>
              <a:off x="5328" y="4248"/>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Gemini 2.0 Flash explains red flags</a:t>
              </a:r>
              <a:endParaRPr lang="en-US" sz="1000" dirty="0"/>
            </a:p>
          </p:txBody>
        </p:sp>
        <p:sp>
          <p:nvSpPr>
            <p:cNvPr id="18" name="Text 14"/>
            <p:cNvSpPr/>
            <p:nvPr/>
          </p:nvSpPr>
          <p:spPr>
            <a:xfrm>
              <a:off x="5328" y="5040"/>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Analyzes text, images, and email screenshots</a:t>
              </a:r>
              <a:endParaRPr lang="en-US" sz="1000" dirty="0"/>
            </a:p>
          </p:txBody>
        </p:sp>
        <p:sp>
          <p:nvSpPr>
            <p:cNvPr id="19" name="Text 15"/>
            <p:cNvSpPr/>
            <p:nvPr/>
          </p:nvSpPr>
          <p:spPr>
            <a:xfrm>
              <a:off x="5328" y="5832"/>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Company reputation and email verification</a:t>
              </a:r>
              <a:endParaRPr lang="en-US" sz="1000" dirty="0"/>
            </a:p>
          </p:txBody>
        </p:sp>
        <p:sp>
          <p:nvSpPr>
            <p:cNvPr id="20" name="Text 16"/>
            <p:cNvSpPr/>
            <p:nvPr/>
          </p:nvSpPr>
          <p:spPr>
            <a:xfrm>
              <a:off x="5328" y="6624"/>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Personalized advice for Indian job market</a:t>
              </a:r>
              <a:endParaRPr lang="en-US" sz="1000" dirty="0"/>
            </a:p>
          </p:txBody>
        </p:sp>
        <p:sp>
          <p:nvSpPr>
            <p:cNvPr id="21" name="Shape 17"/>
            <p:cNvSpPr/>
            <p:nvPr/>
          </p:nvSpPr>
          <p:spPr>
            <a:xfrm>
              <a:off x="9648" y="3427"/>
              <a:ext cx="4248" cy="4032"/>
            </a:xfrm>
            <a:prstGeom prst="roundRect">
              <a:avLst>
                <a:gd name="adj" fmla="val 3571"/>
              </a:avLst>
            </a:prstGeom>
            <a:solidFill>
              <a:srgbClr val="162032"/>
            </a:solidFill>
            <a:ln w="12700">
              <a:solidFill>
                <a:srgbClr val="00BCD4"/>
              </a:solidFill>
              <a:prstDash val="solid"/>
            </a:ln>
            <a:effectLst>
              <a:outerShdw blurRad="101600" dist="38100" dir="2700000" algn="bl" rotWithShape="0">
                <a:srgbClr val="000000">
                  <a:alpha val="12000"/>
                </a:srgbClr>
              </a:outerShdw>
            </a:effectLst>
          </p:spPr>
        </p:sp>
        <p:sp>
          <p:nvSpPr>
            <p:cNvPr id="22" name="Text 18"/>
            <p:cNvSpPr/>
            <p:nvPr/>
          </p:nvSpPr>
          <p:spPr>
            <a:xfrm>
              <a:off x="9864" y="3542"/>
              <a:ext cx="3816" cy="605"/>
            </a:xfrm>
            <a:prstGeom prst="rect">
              <a:avLst/>
            </a:prstGeom>
            <a:noFill/>
          </p:spPr>
          <p:txBody>
            <a:bodyPr wrap="square" rtlCol="0" anchor="ctr"/>
            <a:lstStyle/>
            <a:p>
              <a:pPr marL="0" indent="0">
                <a:buNone/>
              </a:pPr>
              <a:r>
                <a:rPr lang="en-US" sz="1100" b="1" dirty="0">
                  <a:solidFill>
                    <a:srgbClr val="00BCD4"/>
                  </a:solidFill>
                  <a:latin typeface="Calibri" panose="020F0502020204030204" pitchFamily="34" charset="0"/>
                  <a:ea typeface="Calibri" panose="020F0502020204030204" pitchFamily="34" charset="-122"/>
                  <a:cs typeface="Calibri" panose="020F0502020204030204" pitchFamily="34" charset="-120"/>
                </a:rPr>
                <a:t>🛡️  Social Impact</a:t>
              </a:r>
              <a:endParaRPr lang="en-US" sz="1100" dirty="0"/>
            </a:p>
          </p:txBody>
        </p:sp>
        <p:sp>
          <p:nvSpPr>
            <p:cNvPr id="23" name="Text 19"/>
            <p:cNvSpPr/>
            <p:nvPr/>
          </p:nvSpPr>
          <p:spPr>
            <a:xfrm>
              <a:off x="9864" y="4248"/>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Protects fresh graduates from financial loss</a:t>
              </a:r>
              <a:endParaRPr lang="en-US" sz="1000" dirty="0"/>
            </a:p>
          </p:txBody>
        </p:sp>
        <p:sp>
          <p:nvSpPr>
            <p:cNvPr id="24" name="Text 20"/>
            <p:cNvSpPr/>
            <p:nvPr/>
          </p:nvSpPr>
          <p:spPr>
            <a:xfrm>
              <a:off x="9864" y="5040"/>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Educates users about common scam patterns</a:t>
              </a:r>
              <a:endParaRPr lang="en-US" sz="1000" dirty="0"/>
            </a:p>
          </p:txBody>
        </p:sp>
        <p:sp>
          <p:nvSpPr>
            <p:cNvPr id="25" name="Text 21"/>
            <p:cNvSpPr/>
            <p:nvPr/>
          </p:nvSpPr>
          <p:spPr>
            <a:xfrm>
              <a:off x="9864" y="5832"/>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Provides reporting resources (1930 helpline)</a:t>
              </a:r>
              <a:endParaRPr lang="en-US" sz="1000" dirty="0"/>
            </a:p>
          </p:txBody>
        </p:sp>
        <p:sp>
          <p:nvSpPr>
            <p:cNvPr id="26" name="Text 22"/>
            <p:cNvSpPr/>
            <p:nvPr/>
          </p:nvSpPr>
          <p:spPr>
            <a:xfrm>
              <a:off x="9864" y="6624"/>
              <a:ext cx="3816" cy="691"/>
            </a:xfrm>
            <a:prstGeom prst="rect">
              <a:avLst/>
            </a:prstGeom>
            <a:noFill/>
          </p:spPr>
          <p:txBody>
            <a:bodyPr wrap="square" rtlCol="0" anchor="ctr"/>
            <a:lstStyle/>
            <a:p>
              <a:pPr marL="0" indent="0">
                <a:buNone/>
              </a:pPr>
              <a:r>
                <a:rPr lang="en-US" sz="1000" dirty="0">
                  <a:solidFill>
                    <a:srgbClr val="FFFFFF"/>
                  </a:solidFill>
                  <a:latin typeface="Calibri" panose="020F0502020204030204" pitchFamily="34" charset="0"/>
                  <a:ea typeface="Calibri" panose="020F0502020204030204" pitchFamily="34" charset="-122"/>
                  <a:cs typeface="Calibri" panose="020F0502020204030204" pitchFamily="34" charset="-120"/>
                </a:rPr>
                <a:t>✓  Addresses a critical real-world problem in India</a:t>
              </a:r>
              <a:endParaRPr lang="en-US" sz="1000"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txBox="1"/>
          <p:nvPr/>
        </p:nvSpPr>
        <p:spPr>
          <a:xfrm>
            <a:off x="535670" y="844659"/>
            <a:ext cx="11029616" cy="530296"/>
          </a:xfrm>
          <a:prstGeom prst="rect">
            <a:avLst/>
          </a:prstGeom>
        </p:spPr>
        <p:txBody>
          <a:bodyPr vert="horz" lIns="91440" tIns="45720" rIns="91440" bIns="45720" rtlCol="0" anchor="b">
            <a:normAutofit fontScale="6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panose="020B0604020202020204"/>
                <a:cs typeface="Arial" panose="020B0604020202020204"/>
              </a:rPr>
              <a:t>Future scope</a:t>
            </a:r>
            <a:endParaRPr lang="en-US" sz="4400" b="1" dirty="0">
              <a:solidFill>
                <a:schemeClr val="accent1"/>
              </a:solidFill>
              <a:latin typeface="Arial" panose="020B0604020202020204"/>
              <a:cs typeface="Arial" panose="020B0604020202020204"/>
            </a:endParaRPr>
          </a:p>
        </p:txBody>
      </p:sp>
      <p:sp>
        <p:nvSpPr>
          <p:cNvPr id="4" name="Text 2"/>
          <p:cNvSpPr/>
          <p:nvPr/>
        </p:nvSpPr>
        <p:spPr>
          <a:xfrm>
            <a:off x="488950" y="1198880"/>
            <a:ext cx="8229600" cy="355600"/>
          </a:xfrm>
          <a:prstGeom prst="rect">
            <a:avLst/>
          </a:prstGeom>
          <a:noFill/>
        </p:spPr>
        <p:txBody>
          <a:bodyPr wrap="square" rtlCol="0" anchor="ctr"/>
          <a:lstStyle/>
          <a:p>
            <a:pPr marL="0" indent="0">
              <a:buNone/>
            </a:pPr>
            <a:r>
              <a:rPr lang="en-US" sz="1300" i="1" dirty="0">
                <a:solidFill>
                  <a:srgbClr val="BBDEFB"/>
                </a:solidFill>
                <a:latin typeface="Calibri" panose="020F0502020204030204" pitchFamily="34" charset="0"/>
                <a:ea typeface="Calibri" panose="020F0502020204030204" pitchFamily="34" charset="-122"/>
                <a:cs typeface="Calibri" panose="020F0502020204030204" pitchFamily="34" charset="-120"/>
              </a:rPr>
              <a:t>Planned enhancements and upcoming development ideas</a:t>
            </a:r>
            <a:endParaRPr lang="en-US" sz="1300" dirty="0"/>
          </a:p>
        </p:txBody>
      </p:sp>
      <p:grpSp>
        <p:nvGrpSpPr>
          <p:cNvPr id="37" name="Group 36"/>
          <p:cNvGrpSpPr/>
          <p:nvPr/>
        </p:nvGrpSpPr>
        <p:grpSpPr>
          <a:xfrm>
            <a:off x="342265" y="1554480"/>
            <a:ext cx="11554460" cy="4845050"/>
            <a:chOff x="432" y="1699"/>
            <a:chExt cx="13622" cy="5731"/>
          </a:xfrm>
        </p:grpSpPr>
        <p:sp>
          <p:nvSpPr>
            <p:cNvPr id="7" name="Rectangle 3"/>
            <p:cNvSpPr>
              <a:spLocks noChangeArrowheads="1"/>
            </p:cNvSpPr>
            <p:nvPr/>
          </p:nvSpPr>
          <p:spPr bwMode="auto">
            <a:xfrm>
              <a:off x="1227" y="4783"/>
              <a:ext cx="518" cy="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Shape 3"/>
            <p:cNvSpPr/>
            <p:nvPr/>
          </p:nvSpPr>
          <p:spPr>
            <a:xfrm>
              <a:off x="432" y="1699"/>
              <a:ext cx="4320" cy="2707"/>
            </a:xfrm>
            <a:prstGeom prst="roundRect">
              <a:avLst>
                <a:gd name="adj" fmla="val 5319"/>
              </a:avLst>
            </a:prstGeom>
            <a:solidFill>
              <a:srgbClr val="FCE4EC"/>
            </a:solidFill>
            <a:ln w="19050">
              <a:solidFill>
                <a:srgbClr val="C62828"/>
              </a:solidFill>
              <a:prstDash val="solid"/>
            </a:ln>
            <a:effectLst>
              <a:outerShdw blurRad="101600" dist="38100" dir="2700000" algn="bl" rotWithShape="0">
                <a:srgbClr val="000000">
                  <a:alpha val="12000"/>
                </a:srgbClr>
              </a:outerShdw>
            </a:effectLst>
          </p:spPr>
        </p:sp>
        <p:sp>
          <p:nvSpPr>
            <p:cNvPr id="8" name="Text 4"/>
            <p:cNvSpPr/>
            <p:nvPr/>
          </p:nvSpPr>
          <p:spPr>
            <a:xfrm>
              <a:off x="605" y="1843"/>
              <a:ext cx="3974" cy="576"/>
            </a:xfrm>
            <a:prstGeom prst="rect">
              <a:avLst/>
            </a:prstGeom>
            <a:noFill/>
          </p:spPr>
          <p:txBody>
            <a:bodyPr wrap="square" rtlCol="0" anchor="ctr"/>
            <a:lstStyle/>
            <a:p>
              <a:pPr marL="0" indent="0">
                <a:buNone/>
              </a:pPr>
              <a:r>
                <a:rPr lang="en-US" sz="1100" b="1" dirty="0">
                  <a:solidFill>
                    <a:srgbClr val="0D1B2A"/>
                  </a:solidFill>
                  <a:latin typeface="Calibri" panose="020F0502020204030204" pitchFamily="34" charset="0"/>
                  <a:ea typeface="Calibri" panose="020F0502020204030204" pitchFamily="34" charset="-122"/>
                  <a:cs typeface="Calibri" panose="020F0502020204030204" pitchFamily="34" charset="-120"/>
                </a:rPr>
                <a:t>🔌  Browser Extension</a:t>
              </a:r>
              <a:endParaRPr lang="en-US" sz="1100" dirty="0"/>
            </a:p>
          </p:txBody>
        </p:sp>
        <p:sp>
          <p:nvSpPr>
            <p:cNvPr id="9" name="Text 5"/>
            <p:cNvSpPr/>
            <p:nvPr/>
          </p:nvSpPr>
          <p:spPr>
            <a:xfrm>
              <a:off x="605" y="2448"/>
              <a:ext cx="3974" cy="144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Auto-detect scam jobs directly on Naukri, LinkedIn, and Indeed while browsing — no copy-paste needed</a:t>
              </a:r>
              <a:endParaRPr lang="en-US" sz="1000" dirty="0"/>
            </a:p>
          </p:txBody>
        </p:sp>
        <p:sp>
          <p:nvSpPr>
            <p:cNvPr id="10" name="Shape 6"/>
            <p:cNvSpPr/>
            <p:nvPr/>
          </p:nvSpPr>
          <p:spPr>
            <a:xfrm>
              <a:off x="605" y="3917"/>
              <a:ext cx="1080" cy="346"/>
            </a:xfrm>
            <a:prstGeom prst="roundRect">
              <a:avLst>
                <a:gd name="adj" fmla="val 16667"/>
              </a:avLst>
            </a:prstGeom>
            <a:solidFill>
              <a:srgbClr val="C62828"/>
            </a:solidFill>
            <a:ln w="12700">
              <a:solidFill>
                <a:srgbClr val="C62828"/>
              </a:solidFill>
              <a:prstDash val="solid"/>
            </a:ln>
          </p:spPr>
        </p:sp>
        <p:sp>
          <p:nvSpPr>
            <p:cNvPr id="11" name="Text 7"/>
            <p:cNvSpPr/>
            <p:nvPr/>
          </p:nvSpPr>
          <p:spPr>
            <a:xfrm>
              <a:off x="605" y="3917"/>
              <a:ext cx="1080" cy="346"/>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a:t>
              </a:r>
              <a:endParaRPr lang="en-US" sz="800" dirty="0"/>
            </a:p>
          </p:txBody>
        </p:sp>
        <p:sp>
          <p:nvSpPr>
            <p:cNvPr id="12" name="Shape 8"/>
            <p:cNvSpPr/>
            <p:nvPr/>
          </p:nvSpPr>
          <p:spPr>
            <a:xfrm>
              <a:off x="5083" y="1699"/>
              <a:ext cx="4320" cy="2707"/>
            </a:xfrm>
            <a:prstGeom prst="roundRect">
              <a:avLst>
                <a:gd name="adj" fmla="val 5319"/>
              </a:avLst>
            </a:prstGeom>
            <a:solidFill>
              <a:srgbClr val="FCE4EC"/>
            </a:solidFill>
            <a:ln w="19050">
              <a:solidFill>
                <a:srgbClr val="C62828"/>
              </a:solidFill>
              <a:prstDash val="solid"/>
            </a:ln>
            <a:effectLst>
              <a:outerShdw blurRad="101600" dist="38100" dir="2700000" algn="bl" rotWithShape="0">
                <a:srgbClr val="000000">
                  <a:alpha val="12000"/>
                </a:srgbClr>
              </a:outerShdw>
            </a:effectLst>
          </p:spPr>
        </p:sp>
        <p:sp>
          <p:nvSpPr>
            <p:cNvPr id="13" name="Text 9"/>
            <p:cNvSpPr/>
            <p:nvPr/>
          </p:nvSpPr>
          <p:spPr>
            <a:xfrm>
              <a:off x="5256" y="1843"/>
              <a:ext cx="3974" cy="576"/>
            </a:xfrm>
            <a:prstGeom prst="rect">
              <a:avLst/>
            </a:prstGeom>
            <a:noFill/>
          </p:spPr>
          <p:txBody>
            <a:bodyPr wrap="square" rtlCol="0" anchor="ctr"/>
            <a:lstStyle/>
            <a:p>
              <a:pPr marL="0" indent="0">
                <a:buNone/>
              </a:pPr>
              <a:r>
                <a:rPr lang="en-US" sz="1100" b="1" dirty="0">
                  <a:solidFill>
                    <a:srgbClr val="0D1B2A"/>
                  </a:solidFill>
                  <a:latin typeface="Calibri" panose="020F0502020204030204" pitchFamily="34" charset="0"/>
                  <a:ea typeface="Calibri" panose="020F0502020204030204" pitchFamily="34" charset="-122"/>
                  <a:cs typeface="Calibri" panose="020F0502020204030204" pitchFamily="34" charset="-120"/>
                </a:rPr>
                <a:t>💬  WhatsApp Chatbot</a:t>
              </a:r>
              <a:endParaRPr lang="en-US" sz="1100" dirty="0"/>
            </a:p>
          </p:txBody>
        </p:sp>
        <p:sp>
          <p:nvSpPr>
            <p:cNvPr id="14" name="Text 10"/>
            <p:cNvSpPr/>
            <p:nvPr/>
          </p:nvSpPr>
          <p:spPr>
            <a:xfrm>
              <a:off x="5256" y="2448"/>
              <a:ext cx="3974" cy="144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Send a job posting to a WhatsApp number and receive instant scam analysis — reaches rural graduates</a:t>
              </a:r>
              <a:endParaRPr lang="en-US" sz="1000" dirty="0"/>
            </a:p>
          </p:txBody>
        </p:sp>
        <p:sp>
          <p:nvSpPr>
            <p:cNvPr id="15" name="Shape 11"/>
            <p:cNvSpPr/>
            <p:nvPr/>
          </p:nvSpPr>
          <p:spPr>
            <a:xfrm>
              <a:off x="5256" y="3917"/>
              <a:ext cx="1080" cy="346"/>
            </a:xfrm>
            <a:prstGeom prst="roundRect">
              <a:avLst>
                <a:gd name="adj" fmla="val 16667"/>
              </a:avLst>
            </a:prstGeom>
            <a:solidFill>
              <a:srgbClr val="C62828"/>
            </a:solidFill>
            <a:ln w="12700">
              <a:solidFill>
                <a:srgbClr val="C62828"/>
              </a:solidFill>
              <a:prstDash val="solid"/>
            </a:ln>
          </p:spPr>
        </p:sp>
        <p:sp>
          <p:nvSpPr>
            <p:cNvPr id="16" name="Text 12"/>
            <p:cNvSpPr/>
            <p:nvPr/>
          </p:nvSpPr>
          <p:spPr>
            <a:xfrm>
              <a:off x="5256" y="3917"/>
              <a:ext cx="1080" cy="346"/>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High</a:t>
              </a:r>
              <a:endParaRPr lang="en-US" sz="800" dirty="0"/>
            </a:p>
          </p:txBody>
        </p:sp>
        <p:sp>
          <p:nvSpPr>
            <p:cNvPr id="17" name="Shape 13"/>
            <p:cNvSpPr/>
            <p:nvPr/>
          </p:nvSpPr>
          <p:spPr>
            <a:xfrm>
              <a:off x="9734" y="1699"/>
              <a:ext cx="4320" cy="2707"/>
            </a:xfrm>
            <a:prstGeom prst="roundRect">
              <a:avLst>
                <a:gd name="adj" fmla="val 5319"/>
              </a:avLst>
            </a:prstGeom>
            <a:solidFill>
              <a:srgbClr val="FFF3E0"/>
            </a:solidFill>
            <a:ln w="19050">
              <a:solidFill>
                <a:srgbClr val="F57F17"/>
              </a:solidFill>
              <a:prstDash val="solid"/>
            </a:ln>
            <a:effectLst>
              <a:outerShdw blurRad="101600" dist="38100" dir="2700000" algn="bl" rotWithShape="0">
                <a:srgbClr val="000000">
                  <a:alpha val="12000"/>
                </a:srgbClr>
              </a:outerShdw>
            </a:effectLst>
          </p:spPr>
        </p:sp>
        <p:sp>
          <p:nvSpPr>
            <p:cNvPr id="18" name="Text 14"/>
            <p:cNvSpPr/>
            <p:nvPr/>
          </p:nvSpPr>
          <p:spPr>
            <a:xfrm>
              <a:off x="9907" y="1843"/>
              <a:ext cx="3974" cy="576"/>
            </a:xfrm>
            <a:prstGeom prst="rect">
              <a:avLst/>
            </a:prstGeom>
            <a:noFill/>
          </p:spPr>
          <p:txBody>
            <a:bodyPr wrap="square" rtlCol="0" anchor="ctr"/>
            <a:lstStyle/>
            <a:p>
              <a:pPr marL="0" indent="0">
                <a:buNone/>
              </a:pPr>
              <a:r>
                <a:rPr lang="en-US" sz="1100" b="1" dirty="0">
                  <a:solidFill>
                    <a:srgbClr val="0D1B2A"/>
                  </a:solidFill>
                  <a:latin typeface="Calibri" panose="020F0502020204030204" pitchFamily="34" charset="0"/>
                  <a:ea typeface="Calibri" panose="020F0502020204030204" pitchFamily="34" charset="-122"/>
                  <a:cs typeface="Calibri" panose="020F0502020204030204" pitchFamily="34" charset="-120"/>
                </a:rPr>
                <a:t>🌐  Hindi Language Support</a:t>
              </a:r>
              <a:endParaRPr lang="en-US" sz="1100" dirty="0"/>
            </a:p>
          </p:txBody>
        </p:sp>
        <p:sp>
          <p:nvSpPr>
            <p:cNvPr id="19" name="Text 15"/>
            <p:cNvSpPr/>
            <p:nvPr/>
          </p:nvSpPr>
          <p:spPr>
            <a:xfrm>
              <a:off x="9907" y="2448"/>
              <a:ext cx="3974" cy="144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Support regional languages so students in tier-2/3 cities can use the tool in their native language</a:t>
              </a:r>
              <a:endParaRPr lang="en-US" sz="1000" dirty="0"/>
            </a:p>
          </p:txBody>
        </p:sp>
        <p:sp>
          <p:nvSpPr>
            <p:cNvPr id="20" name="Shape 16"/>
            <p:cNvSpPr/>
            <p:nvPr/>
          </p:nvSpPr>
          <p:spPr>
            <a:xfrm>
              <a:off x="9907" y="3917"/>
              <a:ext cx="1080" cy="346"/>
            </a:xfrm>
            <a:prstGeom prst="roundRect">
              <a:avLst>
                <a:gd name="adj" fmla="val 16667"/>
              </a:avLst>
            </a:prstGeom>
            <a:solidFill>
              <a:srgbClr val="F57F17"/>
            </a:solidFill>
            <a:ln w="12700">
              <a:solidFill>
                <a:srgbClr val="F57F17"/>
              </a:solidFill>
              <a:prstDash val="solid"/>
            </a:ln>
          </p:spPr>
        </p:sp>
        <p:sp>
          <p:nvSpPr>
            <p:cNvPr id="21" name="Text 17"/>
            <p:cNvSpPr/>
            <p:nvPr/>
          </p:nvSpPr>
          <p:spPr>
            <a:xfrm>
              <a:off x="9907" y="3917"/>
              <a:ext cx="1080" cy="346"/>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Medium</a:t>
              </a:r>
              <a:endParaRPr lang="en-US" sz="800" dirty="0"/>
            </a:p>
          </p:txBody>
        </p:sp>
        <p:sp>
          <p:nvSpPr>
            <p:cNvPr id="22" name="Shape 18"/>
            <p:cNvSpPr/>
            <p:nvPr/>
          </p:nvSpPr>
          <p:spPr>
            <a:xfrm>
              <a:off x="432" y="4723"/>
              <a:ext cx="4320" cy="2707"/>
            </a:xfrm>
            <a:prstGeom prst="roundRect">
              <a:avLst>
                <a:gd name="adj" fmla="val 5319"/>
              </a:avLst>
            </a:prstGeom>
            <a:solidFill>
              <a:srgbClr val="FFF3E0"/>
            </a:solidFill>
            <a:ln w="19050">
              <a:solidFill>
                <a:srgbClr val="F57F17"/>
              </a:solidFill>
              <a:prstDash val="solid"/>
            </a:ln>
            <a:effectLst>
              <a:outerShdw blurRad="101600" dist="38100" dir="2700000" algn="bl" rotWithShape="0">
                <a:srgbClr val="000000">
                  <a:alpha val="12000"/>
                </a:srgbClr>
              </a:outerShdw>
            </a:effectLst>
          </p:spPr>
        </p:sp>
        <p:sp>
          <p:nvSpPr>
            <p:cNvPr id="23" name="Text 19"/>
            <p:cNvSpPr/>
            <p:nvPr/>
          </p:nvSpPr>
          <p:spPr>
            <a:xfrm>
              <a:off x="605" y="4867"/>
              <a:ext cx="3974" cy="576"/>
            </a:xfrm>
            <a:prstGeom prst="rect">
              <a:avLst/>
            </a:prstGeom>
            <a:noFill/>
          </p:spPr>
          <p:txBody>
            <a:bodyPr wrap="square" rtlCol="0" anchor="ctr"/>
            <a:lstStyle/>
            <a:p>
              <a:pPr marL="0" indent="0">
                <a:buNone/>
              </a:pPr>
              <a:r>
                <a:rPr lang="en-US" sz="1100" b="1" dirty="0">
                  <a:solidFill>
                    <a:srgbClr val="0D1B2A"/>
                  </a:solidFill>
                  <a:latin typeface="Calibri" panose="020F0502020204030204" pitchFamily="34" charset="0"/>
                  <a:ea typeface="Calibri" panose="020F0502020204030204" pitchFamily="34" charset="-122"/>
                  <a:cs typeface="Calibri" panose="020F0502020204030204" pitchFamily="34" charset="-120"/>
                </a:rPr>
                <a:t>📱  Mobile Application</a:t>
              </a:r>
              <a:endParaRPr lang="en-US" sz="1100" dirty="0"/>
            </a:p>
          </p:txBody>
        </p:sp>
        <p:sp>
          <p:nvSpPr>
            <p:cNvPr id="24" name="Text 20"/>
            <p:cNvSpPr/>
            <p:nvPr/>
          </p:nvSpPr>
          <p:spPr>
            <a:xfrm>
              <a:off x="605" y="5472"/>
              <a:ext cx="3974" cy="144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Standalone Android/iOS app with camera integration — photograph job ads in newspapers or posters</a:t>
              </a:r>
              <a:endParaRPr lang="en-US" sz="1000" dirty="0"/>
            </a:p>
          </p:txBody>
        </p:sp>
        <p:sp>
          <p:nvSpPr>
            <p:cNvPr id="25" name="Shape 21"/>
            <p:cNvSpPr/>
            <p:nvPr/>
          </p:nvSpPr>
          <p:spPr>
            <a:xfrm>
              <a:off x="605" y="6941"/>
              <a:ext cx="1080" cy="346"/>
            </a:xfrm>
            <a:prstGeom prst="roundRect">
              <a:avLst>
                <a:gd name="adj" fmla="val 16667"/>
              </a:avLst>
            </a:prstGeom>
            <a:solidFill>
              <a:srgbClr val="F57F17"/>
            </a:solidFill>
            <a:ln w="12700">
              <a:solidFill>
                <a:srgbClr val="F57F17"/>
              </a:solidFill>
              <a:prstDash val="solid"/>
            </a:ln>
          </p:spPr>
        </p:sp>
        <p:sp>
          <p:nvSpPr>
            <p:cNvPr id="26" name="Text 22"/>
            <p:cNvSpPr/>
            <p:nvPr/>
          </p:nvSpPr>
          <p:spPr>
            <a:xfrm>
              <a:off x="605" y="6941"/>
              <a:ext cx="1080" cy="346"/>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Medium</a:t>
              </a:r>
              <a:endParaRPr lang="en-US" sz="800" dirty="0"/>
            </a:p>
          </p:txBody>
        </p:sp>
        <p:sp>
          <p:nvSpPr>
            <p:cNvPr id="27" name="Shape 23"/>
            <p:cNvSpPr/>
            <p:nvPr/>
          </p:nvSpPr>
          <p:spPr>
            <a:xfrm>
              <a:off x="5083" y="4723"/>
              <a:ext cx="4320" cy="2707"/>
            </a:xfrm>
            <a:prstGeom prst="roundRect">
              <a:avLst>
                <a:gd name="adj" fmla="val 5319"/>
              </a:avLst>
            </a:prstGeom>
            <a:solidFill>
              <a:srgbClr val="E8F5E9"/>
            </a:solidFill>
            <a:ln w="19050">
              <a:solidFill>
                <a:srgbClr val="2E7D32"/>
              </a:solidFill>
              <a:prstDash val="solid"/>
            </a:ln>
            <a:effectLst>
              <a:outerShdw blurRad="101600" dist="38100" dir="2700000" algn="bl" rotWithShape="0">
                <a:srgbClr val="000000">
                  <a:alpha val="12000"/>
                </a:srgbClr>
              </a:outerShdw>
            </a:effectLst>
          </p:spPr>
        </p:sp>
        <p:sp>
          <p:nvSpPr>
            <p:cNvPr id="28" name="Text 24"/>
            <p:cNvSpPr/>
            <p:nvPr/>
          </p:nvSpPr>
          <p:spPr>
            <a:xfrm>
              <a:off x="5256" y="4867"/>
              <a:ext cx="3974" cy="576"/>
            </a:xfrm>
            <a:prstGeom prst="rect">
              <a:avLst/>
            </a:prstGeom>
            <a:noFill/>
          </p:spPr>
          <p:txBody>
            <a:bodyPr wrap="square" rtlCol="0" anchor="ctr"/>
            <a:lstStyle/>
            <a:p>
              <a:pPr marL="0" indent="0">
                <a:buNone/>
              </a:pPr>
              <a:r>
                <a:rPr lang="en-US" sz="1100" b="1" dirty="0">
                  <a:solidFill>
                    <a:srgbClr val="0D1B2A"/>
                  </a:solidFill>
                  <a:latin typeface="Calibri" panose="020F0502020204030204" pitchFamily="34" charset="0"/>
                  <a:ea typeface="Calibri" panose="020F0502020204030204" pitchFamily="34" charset="-122"/>
                  <a:cs typeface="Calibri" panose="020F0502020204030204" pitchFamily="34" charset="-120"/>
                </a:rPr>
                <a:t>📊  Real-time Job Portal Monitoring</a:t>
              </a:r>
              <a:endParaRPr lang="en-US" sz="1100" dirty="0"/>
            </a:p>
          </p:txBody>
        </p:sp>
        <p:sp>
          <p:nvSpPr>
            <p:cNvPr id="29" name="Text 25"/>
            <p:cNvSpPr/>
            <p:nvPr/>
          </p:nvSpPr>
          <p:spPr>
            <a:xfrm>
              <a:off x="5256" y="5472"/>
              <a:ext cx="3974" cy="144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Crawl job portals automatically, flag suspicious listings, and notify job seekers proactively</a:t>
              </a:r>
              <a:endParaRPr lang="en-US" sz="1000" dirty="0"/>
            </a:p>
          </p:txBody>
        </p:sp>
        <p:sp>
          <p:nvSpPr>
            <p:cNvPr id="30" name="Shape 26"/>
            <p:cNvSpPr/>
            <p:nvPr/>
          </p:nvSpPr>
          <p:spPr>
            <a:xfrm>
              <a:off x="5256" y="6941"/>
              <a:ext cx="1080" cy="346"/>
            </a:xfrm>
            <a:prstGeom prst="roundRect">
              <a:avLst>
                <a:gd name="adj" fmla="val 16667"/>
              </a:avLst>
            </a:prstGeom>
            <a:solidFill>
              <a:srgbClr val="2E7D32"/>
            </a:solidFill>
            <a:ln w="12700">
              <a:solidFill>
                <a:srgbClr val="2E7D32"/>
              </a:solidFill>
              <a:prstDash val="solid"/>
            </a:ln>
          </p:spPr>
        </p:sp>
        <p:sp>
          <p:nvSpPr>
            <p:cNvPr id="31" name="Text 27"/>
            <p:cNvSpPr/>
            <p:nvPr/>
          </p:nvSpPr>
          <p:spPr>
            <a:xfrm>
              <a:off x="5256" y="6941"/>
              <a:ext cx="1080" cy="346"/>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a:t>
              </a:r>
              <a:endParaRPr lang="en-US" sz="800" dirty="0"/>
            </a:p>
          </p:txBody>
        </p:sp>
        <p:sp>
          <p:nvSpPr>
            <p:cNvPr id="32" name="Shape 28"/>
            <p:cNvSpPr/>
            <p:nvPr/>
          </p:nvSpPr>
          <p:spPr>
            <a:xfrm>
              <a:off x="9734" y="4723"/>
              <a:ext cx="4320" cy="2707"/>
            </a:xfrm>
            <a:prstGeom prst="roundRect">
              <a:avLst>
                <a:gd name="adj" fmla="val 5319"/>
              </a:avLst>
            </a:prstGeom>
            <a:solidFill>
              <a:srgbClr val="E8F5E9"/>
            </a:solidFill>
            <a:ln w="19050">
              <a:solidFill>
                <a:srgbClr val="2E7D32"/>
              </a:solidFill>
              <a:prstDash val="solid"/>
            </a:ln>
            <a:effectLst>
              <a:outerShdw blurRad="101600" dist="38100" dir="2700000" algn="bl" rotWithShape="0">
                <a:srgbClr val="000000">
                  <a:alpha val="12000"/>
                </a:srgbClr>
              </a:outerShdw>
            </a:effectLst>
          </p:spPr>
        </p:sp>
        <p:sp>
          <p:nvSpPr>
            <p:cNvPr id="33" name="Text 29"/>
            <p:cNvSpPr/>
            <p:nvPr/>
          </p:nvSpPr>
          <p:spPr>
            <a:xfrm>
              <a:off x="9907" y="4867"/>
              <a:ext cx="3974" cy="576"/>
            </a:xfrm>
            <a:prstGeom prst="rect">
              <a:avLst/>
            </a:prstGeom>
            <a:noFill/>
          </p:spPr>
          <p:txBody>
            <a:bodyPr wrap="square" rtlCol="0" anchor="ctr"/>
            <a:lstStyle/>
            <a:p>
              <a:pPr marL="0" indent="0">
                <a:buNone/>
              </a:pPr>
              <a:r>
                <a:rPr lang="en-US" sz="1100" b="1" dirty="0">
                  <a:solidFill>
                    <a:srgbClr val="0D1B2A"/>
                  </a:solidFill>
                  <a:latin typeface="Calibri" panose="020F0502020204030204" pitchFamily="34" charset="0"/>
                  <a:ea typeface="Calibri" panose="020F0502020204030204" pitchFamily="34" charset="-122"/>
                  <a:cs typeface="Calibri" panose="020F0502020204030204" pitchFamily="34" charset="-120"/>
                </a:rPr>
                <a:t>🎓  College Awareness Integration</a:t>
              </a:r>
              <a:endParaRPr lang="en-US" sz="1100" dirty="0"/>
            </a:p>
          </p:txBody>
        </p:sp>
        <p:sp>
          <p:nvSpPr>
            <p:cNvPr id="34" name="Text 30"/>
            <p:cNvSpPr/>
            <p:nvPr/>
          </p:nvSpPr>
          <p:spPr>
            <a:xfrm>
              <a:off x="9907" y="5472"/>
              <a:ext cx="3974" cy="1440"/>
            </a:xfrm>
            <a:prstGeom prst="rect">
              <a:avLst/>
            </a:prstGeom>
            <a:noFill/>
          </p:spPr>
          <p:txBody>
            <a:bodyPr wrap="square" rtlCol="0" anchor="ctr"/>
            <a:lstStyle/>
            <a:p>
              <a:pPr marL="0" indent="0">
                <a:buNone/>
              </a:pPr>
              <a:r>
                <a:rPr lang="en-US" sz="1000" dirty="0">
                  <a:solidFill>
                    <a:srgbClr val="1A1A2E"/>
                  </a:solidFill>
                  <a:latin typeface="Calibri" panose="020F0502020204030204" pitchFamily="34" charset="0"/>
                  <a:ea typeface="Calibri" panose="020F0502020204030204" pitchFamily="34" charset="-122"/>
                  <a:cs typeface="Calibri" panose="020F0502020204030204" pitchFamily="34" charset="-120"/>
                </a:rPr>
                <a:t>API for college placement portals to filter and flag suspicious recruiter registrations</a:t>
              </a:r>
              <a:endParaRPr lang="en-US" sz="1000" dirty="0"/>
            </a:p>
          </p:txBody>
        </p:sp>
        <p:sp>
          <p:nvSpPr>
            <p:cNvPr id="35" name="Shape 31"/>
            <p:cNvSpPr/>
            <p:nvPr/>
          </p:nvSpPr>
          <p:spPr>
            <a:xfrm>
              <a:off x="9907" y="6941"/>
              <a:ext cx="1080" cy="346"/>
            </a:xfrm>
            <a:prstGeom prst="roundRect">
              <a:avLst>
                <a:gd name="adj" fmla="val 16667"/>
              </a:avLst>
            </a:prstGeom>
            <a:solidFill>
              <a:srgbClr val="2E7D32"/>
            </a:solidFill>
            <a:ln w="12700">
              <a:solidFill>
                <a:srgbClr val="2E7D32"/>
              </a:solidFill>
              <a:prstDash val="solid"/>
            </a:ln>
          </p:spPr>
        </p:sp>
        <p:sp>
          <p:nvSpPr>
            <p:cNvPr id="36" name="Text 32"/>
            <p:cNvSpPr/>
            <p:nvPr/>
          </p:nvSpPr>
          <p:spPr>
            <a:xfrm>
              <a:off x="9907" y="6941"/>
              <a:ext cx="1080" cy="346"/>
            </a:xfrm>
            <a:prstGeom prst="rect">
              <a:avLst/>
            </a:prstGeom>
            <a:noFill/>
          </p:spPr>
          <p:txBody>
            <a:bodyPr wrap="square" lIns="0" tIns="0" rIns="0" bIns="0" rtlCol="0" anchor="ctr"/>
            <a:lstStyle/>
            <a:p>
              <a:pPr marL="0" indent="0" algn="ctr">
                <a:buNone/>
              </a:pPr>
              <a:r>
                <a:rPr lang="en-US" sz="8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Low</a:t>
              </a:r>
              <a:endParaRPr lang="en-US" sz="800" dirty="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References</a:t>
            </a:r>
            <a:endParaRPr lang="en-US"/>
          </a:p>
        </p:txBody>
      </p:sp>
      <p:sp>
        <p:nvSpPr>
          <p:cNvPr id="7" name="Text 1"/>
          <p:cNvSpPr/>
          <p:nvPr/>
        </p:nvSpPr>
        <p:spPr>
          <a:xfrm>
            <a:off x="457200" y="91440"/>
            <a:ext cx="8229600" cy="457200"/>
          </a:xfrm>
          <a:prstGeom prst="rect">
            <a:avLst/>
          </a:prstGeom>
          <a:noFill/>
        </p:spPr>
        <p:txBody>
          <a:bodyPr wrap="square" rtlCol="0" anchor="ctr"/>
          <a:lstStyle/>
          <a:p>
            <a:pPr marL="0" indent="0">
              <a:buNone/>
            </a:pPr>
            <a:r>
              <a:rPr lang="en-US" sz="2600" b="1" kern="0" spc="200" dirty="0">
                <a:solidFill>
                  <a:srgbClr val="FFFFFF"/>
                </a:solidFill>
                <a:latin typeface="Calibri" panose="020F0502020204030204" pitchFamily="34" charset="0"/>
                <a:ea typeface="Calibri" panose="020F0502020204030204" pitchFamily="34" charset="-122"/>
                <a:cs typeface="Calibri" panose="020F0502020204030204" pitchFamily="34" charset="-120"/>
              </a:rPr>
              <a:t>REFERENCES</a:t>
            </a:r>
            <a:endParaRPr lang="en-US" sz="2600" dirty="0"/>
          </a:p>
        </p:txBody>
      </p:sp>
      <p:sp>
        <p:nvSpPr>
          <p:cNvPr id="9" name="Text 2"/>
          <p:cNvSpPr/>
          <p:nvPr/>
        </p:nvSpPr>
        <p:spPr>
          <a:xfrm>
            <a:off x="581025" y="1145032"/>
            <a:ext cx="8229600" cy="347472"/>
          </a:xfrm>
          <a:prstGeom prst="rect">
            <a:avLst/>
          </a:prstGeom>
          <a:noFill/>
        </p:spPr>
        <p:txBody>
          <a:bodyPr wrap="square" rtlCol="0" anchor="ctr"/>
          <a:lstStyle/>
          <a:p>
            <a:pPr marL="0" indent="0">
              <a:buNone/>
            </a:pPr>
            <a:r>
              <a:rPr lang="en-US" sz="1300" i="1" dirty="0">
                <a:solidFill>
                  <a:srgbClr val="00BCD4"/>
                </a:solidFill>
                <a:latin typeface="Calibri" panose="020F0502020204030204" pitchFamily="34" charset="0"/>
                <a:ea typeface="Calibri" panose="020F0502020204030204" pitchFamily="34" charset="-122"/>
                <a:cs typeface="Calibri" panose="020F0502020204030204" pitchFamily="34" charset="-120"/>
              </a:rPr>
              <a:t>Datasets, APIs, libraries, and documentation used in this project</a:t>
            </a:r>
            <a:endParaRPr lang="en-US" sz="1300" dirty="0"/>
          </a:p>
        </p:txBody>
      </p:sp>
      <p:grpSp>
        <p:nvGrpSpPr>
          <p:cNvPr id="47" name="Group 46"/>
          <p:cNvGrpSpPr/>
          <p:nvPr/>
        </p:nvGrpSpPr>
        <p:grpSpPr>
          <a:xfrm>
            <a:off x="216535" y="1640205"/>
            <a:ext cx="11708765" cy="4773930"/>
            <a:chOff x="432" y="1728"/>
            <a:chExt cx="13680" cy="5788"/>
          </a:xfrm>
        </p:grpSpPr>
        <p:sp>
          <p:nvSpPr>
            <p:cNvPr id="11" name="Shape 3"/>
            <p:cNvSpPr/>
            <p:nvPr/>
          </p:nvSpPr>
          <p:spPr>
            <a:xfrm>
              <a:off x="432" y="1728"/>
              <a:ext cx="6624" cy="1757"/>
            </a:xfrm>
            <a:prstGeom prst="roundRect">
              <a:avLst>
                <a:gd name="adj" fmla="val 6557"/>
              </a:avLst>
            </a:prstGeom>
            <a:solidFill>
              <a:srgbClr val="FFFFFF"/>
            </a:solidFill>
            <a:ln w="12700">
              <a:solidFill>
                <a:srgbClr val="1565C0"/>
              </a:solidFill>
              <a:prstDash val="solid"/>
            </a:ln>
            <a:effectLst>
              <a:outerShdw blurRad="101600" dist="38100" dir="2700000" algn="bl" rotWithShape="0">
                <a:srgbClr val="000000">
                  <a:alpha val="12000"/>
                </a:srgbClr>
              </a:outerShdw>
            </a:effectLst>
          </p:spPr>
        </p:sp>
        <p:sp>
          <p:nvSpPr>
            <p:cNvPr id="12" name="Shape 4"/>
            <p:cNvSpPr/>
            <p:nvPr/>
          </p:nvSpPr>
          <p:spPr>
            <a:xfrm>
              <a:off x="576" y="1872"/>
              <a:ext cx="547" cy="547"/>
            </a:xfrm>
            <a:prstGeom prst="ellipse">
              <a:avLst/>
            </a:prstGeom>
            <a:solidFill>
              <a:srgbClr val="1565C0"/>
            </a:solidFill>
            <a:ln w="12700">
              <a:solidFill>
                <a:srgbClr val="1565C0"/>
              </a:solidFill>
              <a:prstDash val="solid"/>
            </a:ln>
          </p:spPr>
        </p:sp>
        <p:sp>
          <p:nvSpPr>
            <p:cNvPr id="13" name="Text 5"/>
            <p:cNvSpPr/>
            <p:nvPr/>
          </p:nvSpPr>
          <p:spPr>
            <a:xfrm>
              <a:off x="576" y="1872"/>
              <a:ext cx="547" cy="54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900" dirty="0"/>
            </a:p>
          </p:txBody>
        </p:sp>
        <p:sp>
          <p:nvSpPr>
            <p:cNvPr id="14" name="Text 6"/>
            <p:cNvSpPr/>
            <p:nvPr/>
          </p:nvSpPr>
          <p:spPr>
            <a:xfrm>
              <a:off x="1267" y="1843"/>
              <a:ext cx="5688" cy="461"/>
            </a:xfrm>
            <a:prstGeom prst="rect">
              <a:avLst/>
            </a:prstGeom>
            <a:noFill/>
          </p:spPr>
          <p:txBody>
            <a:bodyPr wrap="square" rtlCol="0" anchor="ctr"/>
            <a:lstStyle/>
            <a:p>
              <a:pPr marL="0" indent="0">
                <a:buNone/>
              </a:pPr>
              <a:r>
                <a:rPr lang="en-US" sz="1100" b="1" dirty="0">
                  <a:solidFill>
                    <a:srgbClr val="1565C0"/>
                  </a:solidFill>
                  <a:latin typeface="Calibri" panose="020F0502020204030204" pitchFamily="34" charset="0"/>
                  <a:ea typeface="Calibri" panose="020F0502020204030204" pitchFamily="34" charset="-122"/>
                  <a:cs typeface="Calibri" panose="020F0502020204030204" pitchFamily="34" charset="-120"/>
                </a:rPr>
                <a:t>EMSCAD Dataset</a:t>
              </a:r>
              <a:endParaRPr lang="en-US" sz="1100" dirty="0"/>
            </a:p>
          </p:txBody>
        </p:sp>
        <p:sp>
          <p:nvSpPr>
            <p:cNvPr id="15" name="Text 7"/>
            <p:cNvSpPr/>
            <p:nvPr/>
          </p:nvSpPr>
          <p:spPr>
            <a:xfrm>
              <a:off x="648" y="2362"/>
              <a:ext cx="6264" cy="662"/>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Employment Scam Aegean Dataset — 17,880 real job postings labelled as real/fake. Used as the training and testing dataset for the ML model.</a:t>
              </a:r>
              <a:endParaRPr lang="en-US" sz="900" dirty="0"/>
            </a:p>
          </p:txBody>
        </p:sp>
        <p:sp>
          <p:nvSpPr>
            <p:cNvPr id="16" name="Text 8"/>
            <p:cNvSpPr/>
            <p:nvPr/>
          </p:nvSpPr>
          <p:spPr>
            <a:xfrm>
              <a:off x="648" y="3053"/>
              <a:ext cx="6264" cy="346"/>
            </a:xfrm>
            <a:prstGeom prst="rect">
              <a:avLst/>
            </a:prstGeom>
            <a:noFill/>
          </p:spPr>
          <p:txBody>
            <a:bodyPr wrap="square" rtlCol="0" anchor="ctr"/>
            <a:lstStyle/>
            <a:p>
              <a:pPr marL="0" indent="0">
                <a:buNone/>
              </a:pPr>
              <a:r>
                <a:rPr 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rPr>
                <a:t>🔗 </a:t>
              </a:r>
              <a:r>
                <a:rPr lang="en-US" alt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rPr>
                <a:t>https://www.kaggle.com/datasets/shivamb/real-or-fake-fake-jobposting-prediction</a:t>
              </a:r>
              <a:endParaRPr lang="en-US" alt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Shape 9"/>
            <p:cNvSpPr/>
            <p:nvPr/>
          </p:nvSpPr>
          <p:spPr>
            <a:xfrm>
              <a:off x="7488" y="1728"/>
              <a:ext cx="6624" cy="1757"/>
            </a:xfrm>
            <a:prstGeom prst="roundRect">
              <a:avLst>
                <a:gd name="adj" fmla="val 6557"/>
              </a:avLst>
            </a:prstGeom>
            <a:solidFill>
              <a:srgbClr val="FFFFFF"/>
            </a:solidFill>
            <a:ln w="12700">
              <a:solidFill>
                <a:srgbClr val="1565C0"/>
              </a:solidFill>
              <a:prstDash val="solid"/>
            </a:ln>
            <a:effectLst>
              <a:outerShdw blurRad="101600" dist="38100" dir="2700000" algn="bl" rotWithShape="0">
                <a:srgbClr val="000000">
                  <a:alpha val="12000"/>
                </a:srgbClr>
              </a:outerShdw>
            </a:effectLst>
          </p:spPr>
        </p:sp>
        <p:sp>
          <p:nvSpPr>
            <p:cNvPr id="18" name="Shape 10"/>
            <p:cNvSpPr/>
            <p:nvPr/>
          </p:nvSpPr>
          <p:spPr>
            <a:xfrm>
              <a:off x="7632" y="1872"/>
              <a:ext cx="547" cy="547"/>
            </a:xfrm>
            <a:prstGeom prst="ellipse">
              <a:avLst/>
            </a:prstGeom>
            <a:solidFill>
              <a:srgbClr val="1565C0"/>
            </a:solidFill>
            <a:ln w="12700">
              <a:solidFill>
                <a:srgbClr val="1565C0"/>
              </a:solidFill>
              <a:prstDash val="solid"/>
            </a:ln>
          </p:spPr>
        </p:sp>
        <p:sp>
          <p:nvSpPr>
            <p:cNvPr id="19" name="Text 11"/>
            <p:cNvSpPr/>
            <p:nvPr/>
          </p:nvSpPr>
          <p:spPr>
            <a:xfrm>
              <a:off x="7632" y="1872"/>
              <a:ext cx="547" cy="54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900" dirty="0"/>
            </a:p>
          </p:txBody>
        </p:sp>
        <p:sp>
          <p:nvSpPr>
            <p:cNvPr id="20" name="Text 12"/>
            <p:cNvSpPr/>
            <p:nvPr/>
          </p:nvSpPr>
          <p:spPr>
            <a:xfrm>
              <a:off x="8323" y="1843"/>
              <a:ext cx="5688" cy="461"/>
            </a:xfrm>
            <a:prstGeom prst="rect">
              <a:avLst/>
            </a:prstGeom>
            <a:noFill/>
          </p:spPr>
          <p:txBody>
            <a:bodyPr wrap="square" rtlCol="0" anchor="ctr"/>
            <a:lstStyle/>
            <a:p>
              <a:pPr marL="0" indent="0">
                <a:buNone/>
              </a:pPr>
              <a:r>
                <a:rPr lang="en-US" sz="1100" b="1" dirty="0">
                  <a:solidFill>
                    <a:srgbClr val="1565C0"/>
                  </a:solidFill>
                  <a:latin typeface="Calibri" panose="020F0502020204030204" pitchFamily="34" charset="0"/>
                  <a:ea typeface="Calibri" panose="020F0502020204030204" pitchFamily="34" charset="-122"/>
                  <a:cs typeface="Calibri" panose="020F0502020204030204" pitchFamily="34" charset="-120"/>
                </a:rPr>
                <a:t>Scikit-learn</a:t>
              </a:r>
              <a:endParaRPr lang="en-US" sz="1100" dirty="0"/>
            </a:p>
          </p:txBody>
        </p:sp>
        <p:sp>
          <p:nvSpPr>
            <p:cNvPr id="21" name="Text 13"/>
            <p:cNvSpPr/>
            <p:nvPr/>
          </p:nvSpPr>
          <p:spPr>
            <a:xfrm>
              <a:off x="7704" y="2362"/>
              <a:ext cx="6264" cy="662"/>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Machine learning library used for Logistic Regression model training, TF-IDF vectorization, train-test split, and classification report generation.</a:t>
              </a:r>
              <a:endParaRPr lang="en-US" sz="900" dirty="0"/>
            </a:p>
          </p:txBody>
        </p:sp>
        <p:sp>
          <p:nvSpPr>
            <p:cNvPr id="22" name="Text 14"/>
            <p:cNvSpPr/>
            <p:nvPr/>
          </p:nvSpPr>
          <p:spPr>
            <a:xfrm>
              <a:off x="7704" y="3053"/>
              <a:ext cx="6264" cy="346"/>
            </a:xfrm>
            <a:prstGeom prst="rect">
              <a:avLst/>
            </a:prstGeom>
            <a:noFill/>
          </p:spPr>
          <p:txBody>
            <a:bodyPr wrap="square" rtlCol="0" anchor="ctr"/>
            <a:lstStyle/>
            <a:p>
              <a:pPr marL="0" indent="0">
                <a:buNone/>
              </a:pPr>
              <a:r>
                <a:rPr 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rPr>
                <a:t>🔗 scikit-learn.org/stable/documentation.html</a:t>
              </a:r>
              <a:endParaRPr lang="en-US" sz="900" dirty="0"/>
            </a:p>
          </p:txBody>
        </p:sp>
        <p:sp>
          <p:nvSpPr>
            <p:cNvPr id="23" name="Shape 15"/>
            <p:cNvSpPr/>
            <p:nvPr/>
          </p:nvSpPr>
          <p:spPr>
            <a:xfrm>
              <a:off x="432" y="3744"/>
              <a:ext cx="6624" cy="1757"/>
            </a:xfrm>
            <a:prstGeom prst="roundRect">
              <a:avLst>
                <a:gd name="adj" fmla="val 6557"/>
              </a:avLst>
            </a:prstGeom>
            <a:solidFill>
              <a:srgbClr val="FFFFFF"/>
            </a:solidFill>
            <a:ln w="12700">
              <a:solidFill>
                <a:srgbClr val="1565C0"/>
              </a:solidFill>
              <a:prstDash val="solid"/>
            </a:ln>
            <a:effectLst>
              <a:outerShdw blurRad="101600" dist="38100" dir="2700000" algn="bl" rotWithShape="0">
                <a:srgbClr val="000000">
                  <a:alpha val="12000"/>
                </a:srgbClr>
              </a:outerShdw>
            </a:effectLst>
          </p:spPr>
        </p:sp>
        <p:sp>
          <p:nvSpPr>
            <p:cNvPr id="24" name="Shape 16"/>
            <p:cNvSpPr/>
            <p:nvPr/>
          </p:nvSpPr>
          <p:spPr>
            <a:xfrm>
              <a:off x="576" y="3888"/>
              <a:ext cx="547" cy="547"/>
            </a:xfrm>
            <a:prstGeom prst="ellipse">
              <a:avLst/>
            </a:prstGeom>
            <a:solidFill>
              <a:srgbClr val="1565C0"/>
            </a:solidFill>
            <a:ln w="12700">
              <a:solidFill>
                <a:srgbClr val="1565C0"/>
              </a:solidFill>
              <a:prstDash val="solid"/>
            </a:ln>
          </p:spPr>
        </p:sp>
        <p:sp>
          <p:nvSpPr>
            <p:cNvPr id="25" name="Text 17"/>
            <p:cNvSpPr/>
            <p:nvPr/>
          </p:nvSpPr>
          <p:spPr>
            <a:xfrm>
              <a:off x="576" y="3888"/>
              <a:ext cx="547" cy="54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900" dirty="0"/>
            </a:p>
          </p:txBody>
        </p:sp>
        <p:sp>
          <p:nvSpPr>
            <p:cNvPr id="26" name="Text 18"/>
            <p:cNvSpPr/>
            <p:nvPr/>
          </p:nvSpPr>
          <p:spPr>
            <a:xfrm>
              <a:off x="1267" y="3859"/>
              <a:ext cx="5688" cy="461"/>
            </a:xfrm>
            <a:prstGeom prst="rect">
              <a:avLst/>
            </a:prstGeom>
            <a:noFill/>
          </p:spPr>
          <p:txBody>
            <a:bodyPr wrap="square" rtlCol="0" anchor="ctr"/>
            <a:lstStyle/>
            <a:p>
              <a:pPr marL="0" indent="0">
                <a:buNone/>
              </a:pPr>
              <a:r>
                <a:rPr lang="en-US" sz="1100" b="1" dirty="0">
                  <a:solidFill>
                    <a:srgbClr val="1565C0"/>
                  </a:solidFill>
                  <a:latin typeface="Calibri" panose="020F0502020204030204" pitchFamily="34" charset="0"/>
                  <a:ea typeface="Calibri" panose="020F0502020204030204" pitchFamily="34" charset="-122"/>
                  <a:cs typeface="Calibri" panose="020F0502020204030204" pitchFamily="34" charset="-120"/>
                </a:rPr>
                <a:t>Google Gemini API</a:t>
              </a:r>
              <a:endParaRPr lang="en-US" sz="1100" dirty="0"/>
            </a:p>
          </p:txBody>
        </p:sp>
        <p:sp>
          <p:nvSpPr>
            <p:cNvPr id="27" name="Text 19"/>
            <p:cNvSpPr/>
            <p:nvPr/>
          </p:nvSpPr>
          <p:spPr>
            <a:xfrm>
              <a:off x="648" y="4378"/>
              <a:ext cx="6264" cy="662"/>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Google's Generative AI API (Gemini 2.0 Flash) used for text analysis, red flag extraction, image vision, and personalized safety advice.</a:t>
              </a:r>
              <a:endParaRPr lang="en-US" sz="900" dirty="0"/>
            </a:p>
          </p:txBody>
        </p:sp>
        <p:sp>
          <p:nvSpPr>
            <p:cNvPr id="28" name="Text 20"/>
            <p:cNvSpPr/>
            <p:nvPr/>
          </p:nvSpPr>
          <p:spPr>
            <a:xfrm>
              <a:off x="648" y="5069"/>
              <a:ext cx="6264" cy="346"/>
            </a:xfrm>
            <a:prstGeom prst="rect">
              <a:avLst/>
            </a:prstGeom>
            <a:noFill/>
          </p:spPr>
          <p:txBody>
            <a:bodyPr wrap="square" rtlCol="0" anchor="ctr"/>
            <a:lstStyle/>
            <a:p>
              <a:pPr marL="0" indent="0">
                <a:buNone/>
              </a:pPr>
              <a:r>
                <a:rPr 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rPr>
                <a:t>🔗 ai.google.dev/gemini-api/docs</a:t>
              </a:r>
              <a:endParaRPr lang="en-US" sz="900" dirty="0"/>
            </a:p>
          </p:txBody>
        </p:sp>
        <p:sp>
          <p:nvSpPr>
            <p:cNvPr id="29" name="Shape 21"/>
            <p:cNvSpPr/>
            <p:nvPr/>
          </p:nvSpPr>
          <p:spPr>
            <a:xfrm>
              <a:off x="7488" y="3744"/>
              <a:ext cx="6624" cy="1757"/>
            </a:xfrm>
            <a:prstGeom prst="roundRect">
              <a:avLst>
                <a:gd name="adj" fmla="val 6557"/>
              </a:avLst>
            </a:prstGeom>
            <a:solidFill>
              <a:srgbClr val="FFFFFF"/>
            </a:solidFill>
            <a:ln w="12700">
              <a:solidFill>
                <a:srgbClr val="1565C0"/>
              </a:solidFill>
              <a:prstDash val="solid"/>
            </a:ln>
            <a:effectLst>
              <a:outerShdw blurRad="101600" dist="38100" dir="2700000" algn="bl" rotWithShape="0">
                <a:srgbClr val="000000">
                  <a:alpha val="12000"/>
                </a:srgbClr>
              </a:outerShdw>
            </a:effectLst>
          </p:spPr>
        </p:sp>
        <p:sp>
          <p:nvSpPr>
            <p:cNvPr id="30" name="Shape 22"/>
            <p:cNvSpPr/>
            <p:nvPr/>
          </p:nvSpPr>
          <p:spPr>
            <a:xfrm>
              <a:off x="7632" y="3888"/>
              <a:ext cx="547" cy="547"/>
            </a:xfrm>
            <a:prstGeom prst="ellipse">
              <a:avLst/>
            </a:prstGeom>
            <a:solidFill>
              <a:srgbClr val="1565C0"/>
            </a:solidFill>
            <a:ln w="12700">
              <a:solidFill>
                <a:srgbClr val="1565C0"/>
              </a:solidFill>
              <a:prstDash val="solid"/>
            </a:ln>
          </p:spPr>
        </p:sp>
        <p:sp>
          <p:nvSpPr>
            <p:cNvPr id="31" name="Text 23"/>
            <p:cNvSpPr/>
            <p:nvPr/>
          </p:nvSpPr>
          <p:spPr>
            <a:xfrm>
              <a:off x="7632" y="3888"/>
              <a:ext cx="547" cy="54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900" dirty="0"/>
            </a:p>
          </p:txBody>
        </p:sp>
        <p:sp>
          <p:nvSpPr>
            <p:cNvPr id="32" name="Text 24"/>
            <p:cNvSpPr/>
            <p:nvPr/>
          </p:nvSpPr>
          <p:spPr>
            <a:xfrm>
              <a:off x="8323" y="3859"/>
              <a:ext cx="5688" cy="461"/>
            </a:xfrm>
            <a:prstGeom prst="rect">
              <a:avLst/>
            </a:prstGeom>
            <a:noFill/>
          </p:spPr>
          <p:txBody>
            <a:bodyPr wrap="square" rtlCol="0" anchor="ctr"/>
            <a:lstStyle/>
            <a:p>
              <a:pPr marL="0" indent="0">
                <a:buNone/>
              </a:pPr>
              <a:r>
                <a:rPr lang="en-US" sz="1100" b="1" dirty="0">
                  <a:solidFill>
                    <a:srgbClr val="1565C0"/>
                  </a:solidFill>
                  <a:latin typeface="Calibri" panose="020F0502020204030204" pitchFamily="34" charset="0"/>
                  <a:ea typeface="Calibri" panose="020F0502020204030204" pitchFamily="34" charset="-122"/>
                  <a:cs typeface="Calibri" panose="020F0502020204030204" pitchFamily="34" charset="-120"/>
                </a:rPr>
                <a:t>NLTK (Natural Language Toolkit)</a:t>
              </a:r>
              <a:endParaRPr lang="en-US" sz="1100" dirty="0"/>
            </a:p>
          </p:txBody>
        </p:sp>
        <p:sp>
          <p:nvSpPr>
            <p:cNvPr id="33" name="Text 25"/>
            <p:cNvSpPr/>
            <p:nvPr/>
          </p:nvSpPr>
          <p:spPr>
            <a:xfrm>
              <a:off x="7704" y="4378"/>
              <a:ext cx="6264" cy="662"/>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Used for text preprocessing — specifically the English stopwords corpus for removing common words before TF-IDF vectorization.</a:t>
              </a:r>
              <a:endParaRPr lang="en-US" sz="900" dirty="0"/>
            </a:p>
          </p:txBody>
        </p:sp>
        <p:sp>
          <p:nvSpPr>
            <p:cNvPr id="34" name="Text 26"/>
            <p:cNvSpPr/>
            <p:nvPr/>
          </p:nvSpPr>
          <p:spPr>
            <a:xfrm>
              <a:off x="7704" y="5069"/>
              <a:ext cx="6264" cy="346"/>
            </a:xfrm>
            <a:prstGeom prst="rect">
              <a:avLst/>
            </a:prstGeom>
            <a:noFill/>
          </p:spPr>
          <p:txBody>
            <a:bodyPr wrap="square" rtlCol="0" anchor="ctr"/>
            <a:lstStyle/>
            <a:p>
              <a:pPr marL="0" indent="0">
                <a:buNone/>
              </a:pPr>
              <a:r>
                <a:rPr 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rPr>
                <a:t>🔗 nltk.org — Bird, Klein, Loper (2009)</a:t>
              </a:r>
              <a:endParaRPr lang="en-US" sz="900" dirty="0"/>
            </a:p>
          </p:txBody>
        </p:sp>
        <p:sp>
          <p:nvSpPr>
            <p:cNvPr id="35" name="Shape 27"/>
            <p:cNvSpPr/>
            <p:nvPr/>
          </p:nvSpPr>
          <p:spPr>
            <a:xfrm>
              <a:off x="432" y="5760"/>
              <a:ext cx="6624" cy="1757"/>
            </a:xfrm>
            <a:prstGeom prst="roundRect">
              <a:avLst>
                <a:gd name="adj" fmla="val 6557"/>
              </a:avLst>
            </a:prstGeom>
            <a:solidFill>
              <a:srgbClr val="FFFFFF"/>
            </a:solidFill>
            <a:ln w="12700">
              <a:solidFill>
                <a:srgbClr val="1565C0"/>
              </a:solidFill>
              <a:prstDash val="solid"/>
            </a:ln>
            <a:effectLst>
              <a:outerShdw blurRad="101600" dist="38100" dir="2700000" algn="bl" rotWithShape="0">
                <a:srgbClr val="000000">
                  <a:alpha val="12000"/>
                </a:srgbClr>
              </a:outerShdw>
            </a:effectLst>
          </p:spPr>
        </p:sp>
        <p:sp>
          <p:nvSpPr>
            <p:cNvPr id="36" name="Shape 28"/>
            <p:cNvSpPr/>
            <p:nvPr/>
          </p:nvSpPr>
          <p:spPr>
            <a:xfrm>
              <a:off x="576" y="5904"/>
              <a:ext cx="547" cy="547"/>
            </a:xfrm>
            <a:prstGeom prst="ellipse">
              <a:avLst/>
            </a:prstGeom>
            <a:solidFill>
              <a:srgbClr val="1565C0"/>
            </a:solidFill>
            <a:ln w="12700">
              <a:solidFill>
                <a:srgbClr val="1565C0"/>
              </a:solidFill>
              <a:prstDash val="solid"/>
            </a:ln>
          </p:spPr>
        </p:sp>
        <p:sp>
          <p:nvSpPr>
            <p:cNvPr id="37" name="Text 29"/>
            <p:cNvSpPr/>
            <p:nvPr/>
          </p:nvSpPr>
          <p:spPr>
            <a:xfrm>
              <a:off x="576" y="5904"/>
              <a:ext cx="547" cy="54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900" dirty="0"/>
            </a:p>
          </p:txBody>
        </p:sp>
        <p:sp>
          <p:nvSpPr>
            <p:cNvPr id="38" name="Text 30"/>
            <p:cNvSpPr/>
            <p:nvPr/>
          </p:nvSpPr>
          <p:spPr>
            <a:xfrm>
              <a:off x="1267" y="5875"/>
              <a:ext cx="5688" cy="461"/>
            </a:xfrm>
            <a:prstGeom prst="rect">
              <a:avLst/>
            </a:prstGeom>
            <a:noFill/>
          </p:spPr>
          <p:txBody>
            <a:bodyPr wrap="square" rtlCol="0" anchor="ctr"/>
            <a:lstStyle/>
            <a:p>
              <a:pPr marL="0" indent="0">
                <a:buNone/>
              </a:pPr>
              <a:r>
                <a:rPr lang="en-US" sz="1100" b="1" dirty="0">
                  <a:solidFill>
                    <a:srgbClr val="1565C0"/>
                  </a:solidFill>
                  <a:latin typeface="Calibri" panose="020F0502020204030204" pitchFamily="34" charset="0"/>
                  <a:ea typeface="Calibri" panose="020F0502020204030204" pitchFamily="34" charset="-122"/>
                  <a:cs typeface="Calibri" panose="020F0502020204030204" pitchFamily="34" charset="-120"/>
                </a:rPr>
                <a:t>Streamlit</a:t>
              </a:r>
              <a:endParaRPr lang="en-US" sz="1100" dirty="0"/>
            </a:p>
          </p:txBody>
        </p:sp>
        <p:sp>
          <p:nvSpPr>
            <p:cNvPr id="39" name="Text 31"/>
            <p:cNvSpPr/>
            <p:nvPr/>
          </p:nvSpPr>
          <p:spPr>
            <a:xfrm>
              <a:off x="648" y="6394"/>
              <a:ext cx="6264" cy="662"/>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Python framework used to build the interactive web application UI with tabs, file upload, metrics, progress bars, and real-time results.</a:t>
              </a:r>
              <a:endParaRPr lang="en-US" sz="900" dirty="0"/>
            </a:p>
          </p:txBody>
        </p:sp>
        <p:sp>
          <p:nvSpPr>
            <p:cNvPr id="40" name="Text 32"/>
            <p:cNvSpPr/>
            <p:nvPr/>
          </p:nvSpPr>
          <p:spPr>
            <a:xfrm>
              <a:off x="648" y="7085"/>
              <a:ext cx="6264" cy="346"/>
            </a:xfrm>
            <a:prstGeom prst="rect">
              <a:avLst/>
            </a:prstGeom>
            <a:noFill/>
          </p:spPr>
          <p:txBody>
            <a:bodyPr wrap="square" rtlCol="0" anchor="ctr"/>
            <a:lstStyle/>
            <a:p>
              <a:pPr marL="0" indent="0">
                <a:buNone/>
              </a:pPr>
              <a:r>
                <a:rPr 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rPr>
                <a:t>🔗 docs.streamlit.io</a:t>
              </a:r>
              <a:endParaRPr lang="en-US" sz="900" dirty="0"/>
            </a:p>
          </p:txBody>
        </p:sp>
        <p:sp>
          <p:nvSpPr>
            <p:cNvPr id="41" name="Shape 33"/>
            <p:cNvSpPr/>
            <p:nvPr/>
          </p:nvSpPr>
          <p:spPr>
            <a:xfrm>
              <a:off x="7488" y="5760"/>
              <a:ext cx="6624" cy="1757"/>
            </a:xfrm>
            <a:prstGeom prst="roundRect">
              <a:avLst>
                <a:gd name="adj" fmla="val 6557"/>
              </a:avLst>
            </a:prstGeom>
            <a:solidFill>
              <a:srgbClr val="FFFFFF"/>
            </a:solidFill>
            <a:ln w="12700">
              <a:solidFill>
                <a:srgbClr val="1565C0"/>
              </a:solidFill>
              <a:prstDash val="solid"/>
            </a:ln>
            <a:effectLst>
              <a:outerShdw blurRad="101600" dist="38100" dir="2700000" algn="bl" rotWithShape="0">
                <a:srgbClr val="000000">
                  <a:alpha val="12000"/>
                </a:srgbClr>
              </a:outerShdw>
            </a:effectLst>
          </p:spPr>
        </p:sp>
        <p:sp>
          <p:nvSpPr>
            <p:cNvPr id="42" name="Shape 34"/>
            <p:cNvSpPr/>
            <p:nvPr/>
          </p:nvSpPr>
          <p:spPr>
            <a:xfrm>
              <a:off x="7632" y="5904"/>
              <a:ext cx="547" cy="547"/>
            </a:xfrm>
            <a:prstGeom prst="ellipse">
              <a:avLst/>
            </a:prstGeom>
            <a:solidFill>
              <a:srgbClr val="1565C0"/>
            </a:solidFill>
            <a:ln w="12700">
              <a:solidFill>
                <a:srgbClr val="1565C0"/>
              </a:solidFill>
              <a:prstDash val="solid"/>
            </a:ln>
          </p:spPr>
        </p:sp>
        <p:sp>
          <p:nvSpPr>
            <p:cNvPr id="43" name="Text 35"/>
            <p:cNvSpPr/>
            <p:nvPr/>
          </p:nvSpPr>
          <p:spPr>
            <a:xfrm>
              <a:off x="7632" y="5904"/>
              <a:ext cx="547" cy="547"/>
            </a:xfrm>
            <a:prstGeom prst="rect">
              <a:avLst/>
            </a:prstGeom>
            <a:noFill/>
          </p:spPr>
          <p:txBody>
            <a:bodyPr wrap="square" lIns="0" tIns="0" rIns="0" bIns="0" rtlCol="0" anchor="ctr"/>
            <a:lstStyle/>
            <a:p>
              <a:pPr marL="0" indent="0" algn="ctr">
                <a:buNone/>
              </a:pPr>
              <a:r>
                <a:rPr lang="en-US" sz="9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900" dirty="0"/>
            </a:p>
          </p:txBody>
        </p:sp>
        <p:sp>
          <p:nvSpPr>
            <p:cNvPr id="44" name="Text 36"/>
            <p:cNvSpPr/>
            <p:nvPr/>
          </p:nvSpPr>
          <p:spPr>
            <a:xfrm>
              <a:off x="8323" y="5875"/>
              <a:ext cx="5688" cy="461"/>
            </a:xfrm>
            <a:prstGeom prst="rect">
              <a:avLst/>
            </a:prstGeom>
            <a:noFill/>
          </p:spPr>
          <p:txBody>
            <a:bodyPr wrap="square" rtlCol="0" anchor="ctr"/>
            <a:lstStyle/>
            <a:p>
              <a:pPr marL="0" indent="0">
                <a:buNone/>
              </a:pPr>
              <a:r>
                <a:rPr lang="en-US" sz="1100" b="1" dirty="0">
                  <a:solidFill>
                    <a:srgbClr val="1565C0"/>
                  </a:solidFill>
                  <a:latin typeface="Calibri" panose="020F0502020204030204" pitchFamily="34" charset="0"/>
                  <a:ea typeface="Calibri" panose="020F0502020204030204" pitchFamily="34" charset="-122"/>
                  <a:cs typeface="Calibri" panose="020F0502020204030204" pitchFamily="34" charset="-120"/>
                </a:rPr>
                <a:t>IBM SkillsBuild</a:t>
              </a:r>
              <a:endParaRPr lang="en-US" sz="1100" dirty="0"/>
            </a:p>
          </p:txBody>
        </p:sp>
        <p:sp>
          <p:nvSpPr>
            <p:cNvPr id="45" name="Text 37"/>
            <p:cNvSpPr/>
            <p:nvPr/>
          </p:nvSpPr>
          <p:spPr>
            <a:xfrm>
              <a:off x="7704" y="6394"/>
              <a:ext cx="6264" cy="662"/>
            </a:xfrm>
            <a:prstGeom prst="rect">
              <a:avLst/>
            </a:prstGeom>
            <a:noFill/>
          </p:spPr>
          <p:txBody>
            <a:bodyPr wrap="square" rtlCol="0" anchor="ctr"/>
            <a:lstStyle/>
            <a:p>
              <a:pPr marL="0" indent="0">
                <a:buNone/>
              </a:pPr>
              <a:r>
                <a:rPr lang="en-US" sz="900" dirty="0">
                  <a:solidFill>
                    <a:srgbClr val="1A1A2E"/>
                  </a:solidFill>
                  <a:latin typeface="Calibri" panose="020F0502020204030204" pitchFamily="34" charset="0"/>
                  <a:ea typeface="Calibri" panose="020F0502020204030204" pitchFamily="34" charset="-122"/>
                  <a:cs typeface="Calibri" panose="020F0502020204030204" pitchFamily="34" charset="-120"/>
                </a:rPr>
                <a:t>Learning platform providing the AI/ML course content, project guidelines, and internship framework for this capstone project.</a:t>
              </a:r>
              <a:endParaRPr lang="en-US" sz="900" dirty="0"/>
            </a:p>
          </p:txBody>
        </p:sp>
        <p:sp>
          <p:nvSpPr>
            <p:cNvPr id="46" name="Text 38"/>
            <p:cNvSpPr/>
            <p:nvPr/>
          </p:nvSpPr>
          <p:spPr>
            <a:xfrm>
              <a:off x="7704" y="7085"/>
              <a:ext cx="6264" cy="346"/>
            </a:xfrm>
            <a:prstGeom prst="rect">
              <a:avLst/>
            </a:prstGeom>
            <a:noFill/>
          </p:spPr>
          <p:txBody>
            <a:bodyPr wrap="square" rtlCol="0" anchor="ctr"/>
            <a:lstStyle/>
            <a:p>
              <a:pPr marL="0" indent="0">
                <a:buNone/>
              </a:pPr>
              <a:r>
                <a:rPr 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rPr>
                <a:t>🔗 </a:t>
              </a:r>
              <a:r>
                <a:rPr lang="en-US" alt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rPr>
                <a:t>https://skills.yourlearning.ibm.com/activity/PLAN-8A48645196FA?ngo-id=0107&amp;utm_campaign=AL-Edunet-ArtificialIntelligence-2025-26</a:t>
              </a:r>
              <a:endParaRPr lang="en-US" altLang="en-US" sz="900" i="1" dirty="0">
                <a:solidFill>
                  <a:srgbClr val="00BCD4"/>
                </a:solidFill>
                <a:latin typeface="Calibri" panose="020F0502020204030204" pitchFamily="34" charset="0"/>
                <a:ea typeface="Calibri" panose="020F0502020204030204" pitchFamily="34" charset="-122"/>
                <a:cs typeface="Calibri" panose="020F0502020204030204" pitchFamily="34" charset="-120"/>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Github</a:t>
            </a:r>
            <a:r>
              <a:rPr lang="en-US" dirty="0"/>
              <a:t> link/DEPLOYMENT LINK</a:t>
            </a:r>
            <a:endParaRPr lang="en-IN" dirty="0"/>
          </a:p>
        </p:txBody>
      </p:sp>
      <p:sp>
        <p:nvSpPr>
          <p:cNvPr id="18" name="Shape 0"/>
          <p:cNvSpPr/>
          <p:nvPr/>
        </p:nvSpPr>
        <p:spPr>
          <a:xfrm>
            <a:off x="0" y="1426845"/>
            <a:ext cx="9144000" cy="73152"/>
          </a:xfrm>
          <a:prstGeom prst="rect">
            <a:avLst/>
          </a:prstGeom>
          <a:solidFill>
            <a:srgbClr val="00BCD4"/>
          </a:solidFill>
          <a:ln w="12700">
            <a:solidFill>
              <a:srgbClr val="00BCD4"/>
            </a:solidFill>
            <a:prstDash val="solid"/>
          </a:ln>
        </p:spPr>
        <p:txBody>
          <a:bodyPr/>
          <a:p>
            <a:endParaRPr lang="en-US"/>
          </a:p>
        </p:txBody>
      </p:sp>
      <p:grpSp>
        <p:nvGrpSpPr>
          <p:cNvPr id="31" name="Group 30"/>
          <p:cNvGrpSpPr/>
          <p:nvPr/>
        </p:nvGrpSpPr>
        <p:grpSpPr>
          <a:xfrm>
            <a:off x="832485" y="2028825"/>
            <a:ext cx="7680960" cy="1143000"/>
            <a:chOff x="1152" y="1656"/>
            <a:chExt cx="12096" cy="1800"/>
          </a:xfrm>
        </p:grpSpPr>
        <p:sp>
          <p:nvSpPr>
            <p:cNvPr id="20" name="Shape 2"/>
            <p:cNvSpPr/>
            <p:nvPr/>
          </p:nvSpPr>
          <p:spPr>
            <a:xfrm>
              <a:off x="1152" y="1656"/>
              <a:ext cx="12096" cy="1800"/>
            </a:xfrm>
            <a:prstGeom prst="roundRect">
              <a:avLst>
                <a:gd name="adj" fmla="val 9600"/>
              </a:avLst>
            </a:prstGeom>
            <a:solidFill>
              <a:srgbClr val="162032"/>
            </a:solidFill>
            <a:ln w="12700">
              <a:solidFill>
                <a:srgbClr val="6E8FAB"/>
              </a:solidFill>
              <a:prstDash val="solid"/>
            </a:ln>
          </p:spPr>
          <p:txBody>
            <a:bodyPr/>
            <a:p>
              <a:endParaRPr lang="en-US"/>
            </a:p>
          </p:txBody>
        </p:sp>
        <p:sp>
          <p:nvSpPr>
            <p:cNvPr id="21" name="Text 3"/>
            <p:cNvSpPr/>
            <p:nvPr/>
          </p:nvSpPr>
          <p:spPr>
            <a:xfrm>
              <a:off x="1440" y="1757"/>
              <a:ext cx="5040" cy="576"/>
            </a:xfrm>
            <a:prstGeom prst="rect">
              <a:avLst/>
            </a:prstGeom>
            <a:noFill/>
          </p:spPr>
          <p:txBody>
            <a:bodyPr wrap="square" rtlCol="0" anchor="ctr"/>
            <a:lstStyle/>
            <a:p>
              <a:pPr marL="0" indent="0">
                <a:buNone/>
              </a:pPr>
              <a:r>
                <a:rPr lang="en-US" sz="1300" b="1" dirty="0">
                  <a:solidFill>
                    <a:srgbClr val="00BCD4"/>
                  </a:solidFill>
                  <a:latin typeface="Calibri" panose="020F0502020204030204" pitchFamily="34" charset="0"/>
                  <a:ea typeface="Calibri" panose="020F0502020204030204" pitchFamily="34" charset="-122"/>
                  <a:cs typeface="Calibri" panose="020F0502020204030204" pitchFamily="34" charset="-120"/>
                </a:rPr>
                <a:t>🐙  GitHub Repository</a:t>
              </a:r>
              <a:endParaRPr lang="en-US" sz="1300" dirty="0"/>
            </a:p>
          </p:txBody>
        </p:sp>
        <p:sp>
          <p:nvSpPr>
            <p:cNvPr id="22" name="Text 4"/>
            <p:cNvSpPr/>
            <p:nvPr/>
          </p:nvSpPr>
          <p:spPr>
            <a:xfrm>
              <a:off x="1440" y="2333"/>
              <a:ext cx="10800" cy="749"/>
            </a:xfrm>
            <a:prstGeom prst="rect">
              <a:avLst/>
            </a:prstGeom>
            <a:noFill/>
          </p:spPr>
          <p:txBody>
            <a:bodyPr wrap="square" rtlCol="0" anchor="ctr"/>
            <a:lstStyle/>
            <a:p>
              <a:pPr marL="0" indent="0">
                <a:buNone/>
              </a:pPr>
              <a:r>
                <a:rPr lang="en-US" altLang="en-US" sz="1400">
                  <a:solidFill>
                    <a:schemeClr val="bg1"/>
                  </a:solidFill>
                  <a:latin typeface="Cascadia Code" panose="020B0609020000020004"/>
                  <a:ea typeface="Cascadia Code" panose="020B0609020000020004"/>
                  <a:cs typeface="Cascadia Code" panose="020B0609020000020004"/>
                  <a:sym typeface="Cascadia Code" panose="020B0609020000020004"/>
                </a:rPr>
                <a:t>https://github.com/palakkhandelwal22/AI-Job-Scam-Detector</a:t>
              </a:r>
              <a:endParaRPr lang="en-US" altLang="en-US" sz="1400" dirty="0">
                <a:solidFill>
                  <a:schemeClr val="bg1"/>
                </a:solidFill>
                <a:latin typeface="Cascadia Code" panose="020B0609020000020004"/>
                <a:ea typeface="Cascadia Code" panose="020B0609020000020004"/>
                <a:cs typeface="Cascadia Code" panose="020B0609020000020004"/>
                <a:sym typeface="Cascadia Code" panose="020B0609020000020004"/>
              </a:endParaRPr>
            </a:p>
          </p:txBody>
        </p:sp>
      </p:grpSp>
      <p:sp>
        <p:nvSpPr>
          <p:cNvPr id="29" name="Shape 11"/>
          <p:cNvSpPr/>
          <p:nvPr/>
        </p:nvSpPr>
        <p:spPr>
          <a:xfrm>
            <a:off x="0" y="6322568"/>
            <a:ext cx="9144000" cy="73152"/>
          </a:xfrm>
          <a:prstGeom prst="rect">
            <a:avLst/>
          </a:prstGeom>
          <a:solidFill>
            <a:srgbClr val="00BCD4"/>
          </a:solidFill>
          <a:ln w="12700">
            <a:solidFill>
              <a:srgbClr val="00BCD4"/>
            </a:solidFill>
            <a:prstDash val="solid"/>
          </a:ln>
        </p:spPr>
      </p:sp>
      <p:grpSp>
        <p:nvGrpSpPr>
          <p:cNvPr id="41" name="Group 40"/>
          <p:cNvGrpSpPr/>
          <p:nvPr/>
        </p:nvGrpSpPr>
        <p:grpSpPr>
          <a:xfrm>
            <a:off x="832485" y="3968115"/>
            <a:ext cx="7680960" cy="1234440"/>
            <a:chOff x="1152" y="3816"/>
            <a:chExt cx="12096" cy="1944"/>
          </a:xfrm>
        </p:grpSpPr>
        <p:sp>
          <p:nvSpPr>
            <p:cNvPr id="37" name="Shape 5"/>
            <p:cNvSpPr/>
            <p:nvPr/>
          </p:nvSpPr>
          <p:spPr>
            <a:xfrm>
              <a:off x="1152" y="3816"/>
              <a:ext cx="12096" cy="1944"/>
            </a:xfrm>
            <a:prstGeom prst="roundRect">
              <a:avLst>
                <a:gd name="adj" fmla="val 8889"/>
              </a:avLst>
            </a:prstGeom>
            <a:solidFill>
              <a:srgbClr val="162032"/>
            </a:solidFill>
            <a:ln w="19050">
              <a:solidFill>
                <a:srgbClr val="00BCD4"/>
              </a:solidFill>
              <a:prstDash val="solid"/>
            </a:ln>
          </p:spPr>
        </p:sp>
        <p:sp>
          <p:nvSpPr>
            <p:cNvPr id="38" name="Text 6"/>
            <p:cNvSpPr/>
            <p:nvPr/>
          </p:nvSpPr>
          <p:spPr>
            <a:xfrm>
              <a:off x="1440" y="3917"/>
              <a:ext cx="10800" cy="576"/>
            </a:xfrm>
            <a:prstGeom prst="rect">
              <a:avLst/>
            </a:prstGeom>
            <a:noFill/>
          </p:spPr>
          <p:txBody>
            <a:bodyPr wrap="square" rtlCol="0" anchor="ctr"/>
            <a:lstStyle/>
            <a:p>
              <a:pPr marL="0" indent="0">
                <a:buNone/>
              </a:pPr>
              <a:r>
                <a:rPr lang="en-US" sz="1300" b="1" dirty="0">
                  <a:solidFill>
                    <a:srgbClr val="00BCD4"/>
                  </a:solidFill>
                  <a:latin typeface="Calibri" panose="020F0502020204030204" pitchFamily="34" charset="0"/>
                  <a:ea typeface="Calibri" panose="020F0502020204030204" pitchFamily="34" charset="-122"/>
                  <a:cs typeface="Calibri" panose="020F0502020204030204" pitchFamily="34" charset="-120"/>
                </a:rPr>
                <a:t>🚀  Deployment Link (Streamlit)</a:t>
              </a:r>
              <a:endParaRPr lang="en-US" sz="1300" dirty="0"/>
            </a:p>
          </p:txBody>
        </p:sp>
        <p:sp>
          <p:nvSpPr>
            <p:cNvPr id="39" name="Text 7"/>
            <p:cNvSpPr/>
            <p:nvPr/>
          </p:nvSpPr>
          <p:spPr>
            <a:xfrm>
              <a:off x="1440" y="4493"/>
              <a:ext cx="10800" cy="648"/>
            </a:xfrm>
            <a:prstGeom prst="rect">
              <a:avLst/>
            </a:prstGeom>
            <a:noFill/>
          </p:spPr>
          <p:txBody>
            <a:bodyPr wrap="square" rtlCol="0" anchor="ctr"/>
            <a:lstStyle/>
            <a:p>
              <a:pPr marL="0" indent="0">
                <a:buNone/>
              </a:pPr>
              <a:r>
                <a:rPr lang="en-US" altLang="en-US" sz="1400" dirty="0">
                  <a:solidFill>
                    <a:schemeClr val="bg1"/>
                  </a:solidFill>
                  <a:latin typeface="Cascadia Code" panose="020B0609020000020004" charset="0"/>
                  <a:cs typeface="Cascadia Code" panose="020B0609020000020004" charset="0"/>
                </a:rPr>
                <a:t>https://ai-job-scam-detector-kmnbfck73fegfappzrvdxeq.streamlit.app/</a:t>
              </a:r>
              <a:endParaRPr lang="en-US" altLang="en-US" sz="1400" dirty="0">
                <a:solidFill>
                  <a:schemeClr val="bg1"/>
                </a:solidFill>
                <a:latin typeface="Cascadia Code" panose="020B0609020000020004" charset="0"/>
                <a:cs typeface="Cascadia Code" panose="020B0609020000020004" charset="0"/>
              </a:endParaRPr>
            </a:p>
          </p:txBody>
        </p:sp>
        <p:sp>
          <p:nvSpPr>
            <p:cNvPr id="40" name="Text 8"/>
            <p:cNvSpPr/>
            <p:nvPr/>
          </p:nvSpPr>
          <p:spPr>
            <a:xfrm>
              <a:off x="1440" y="5155"/>
              <a:ext cx="10800" cy="432"/>
            </a:xfrm>
            <a:prstGeom prst="rect">
              <a:avLst/>
            </a:prstGeom>
            <a:noFill/>
          </p:spPr>
          <p:txBody>
            <a:bodyPr wrap="square" rtlCol="0" anchor="ctr"/>
            <a:lstStyle/>
            <a:p>
              <a:pPr marL="0" indent="0">
                <a:buNone/>
              </a:pPr>
              <a:endParaRPr lang="en-US" sz="900"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10"/>
          <p:cNvSpPr/>
          <p:nvPr/>
        </p:nvSpPr>
        <p:spPr>
          <a:xfrm>
            <a:off x="429895" y="876935"/>
            <a:ext cx="11558905" cy="5523230"/>
          </a:xfrm>
          <a:prstGeom prst="roundRect">
            <a:avLst>
              <a:gd name="adj" fmla="val 6957"/>
            </a:avLst>
          </a:prstGeom>
          <a:solidFill>
            <a:srgbClr val="E3F2FD"/>
          </a:solidFill>
          <a:ln w="12700">
            <a:solidFill>
              <a:srgbClr val="00BCD4"/>
            </a:solidFill>
            <a:prstDash val="solid"/>
          </a:ln>
          <a:effectLst>
            <a:outerShdw blurRad="101600" dist="38100" dir="2700000" algn="bl" rotWithShape="0">
              <a:srgbClr val="000000">
                <a:alpha val="12000"/>
              </a:srgbClr>
            </a:outerShdw>
          </a:effectLst>
        </p:spPr>
        <p:txBody>
          <a:bodyPr/>
          <a:p>
            <a:pPr algn="ctr"/>
            <a:endParaRPr lang="en-US"/>
          </a:p>
        </p:txBody>
      </p:sp>
      <p:sp>
        <p:nvSpPr>
          <p:cNvPr id="2" name="Text Box 1"/>
          <p:cNvSpPr txBox="1"/>
          <p:nvPr/>
        </p:nvSpPr>
        <p:spPr>
          <a:xfrm>
            <a:off x="4735195" y="2992755"/>
            <a:ext cx="4064000" cy="368300"/>
          </a:xfrm>
          <a:prstGeom prst="rect">
            <a:avLst/>
          </a:prstGeom>
          <a:noFill/>
        </p:spPr>
        <p:txBody>
          <a:bodyPr wrap="square" rtlCol="0">
            <a:spAutoFit/>
          </a:bodyPr>
          <a:p>
            <a:endParaRPr lang="en-US"/>
          </a:p>
        </p:txBody>
      </p:sp>
      <p:sp>
        <p:nvSpPr>
          <p:cNvPr id="3" name="Text Box 2"/>
          <p:cNvSpPr txBox="1"/>
          <p:nvPr/>
        </p:nvSpPr>
        <p:spPr>
          <a:xfrm>
            <a:off x="3695065" y="2730500"/>
            <a:ext cx="4946650" cy="1106805"/>
          </a:xfrm>
          <a:prstGeom prst="rect">
            <a:avLst/>
          </a:prstGeom>
          <a:noFill/>
        </p:spPr>
        <p:txBody>
          <a:bodyPr wrap="square" rtlCol="0">
            <a:spAutoFit/>
          </a:bodyPr>
          <a:p>
            <a:r>
              <a:rPr lang="en-US" sz="6600" b="1">
                <a:solidFill>
                  <a:srgbClr val="002060"/>
                </a:solidFill>
                <a:latin typeface="Cascadia Code" panose="020B0609020000020004" charset="0"/>
                <a:cs typeface="Cascadia Code" panose="020B0609020000020004" charset="0"/>
              </a:rPr>
              <a:t>THANK YOU</a:t>
            </a:r>
            <a:endParaRPr lang="en-US" sz="6600" b="1">
              <a:solidFill>
                <a:srgbClr val="002060"/>
              </a:solidFill>
              <a:latin typeface="Cascadia Code" panose="020B0609020000020004" charset="0"/>
              <a:cs typeface="Cascadia Code" panose="020B0609020000020004" charset="0"/>
            </a:endParaRPr>
          </a:p>
        </p:txBody>
      </p:sp>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datastoreItem>
</file>

<file path=customXml/itemProps2.xml><?xml version="1.0" encoding="utf-8"?>
<ds:datastoreItem xmlns:ds="http://schemas.openxmlformats.org/officeDocument/2006/customXml" ds:itemID="{927BD4C1-B6B1-4715-ABF9-E660A51A4EA0}">
  <ds:schemaRefs/>
</ds:datastoreItem>
</file>

<file path=customXml/itemProps3.xml><?xml version="1.0" encoding="utf-8"?>
<ds:datastoreItem xmlns:ds="http://schemas.openxmlformats.org/officeDocument/2006/customXml" ds:itemID="{6E816721-11E4-4989-8472-AB5A7EC20404}">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7839</Words>
  <Application>WPS Presentation</Application>
  <PresentationFormat>Widescreen</PresentationFormat>
  <Paragraphs>439</Paragraphs>
  <Slides>29</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29</vt:i4>
      </vt:variant>
    </vt:vector>
  </HeadingPairs>
  <TitlesOfParts>
    <vt:vector size="47" baseType="lpstr">
      <vt:lpstr>Arial</vt:lpstr>
      <vt:lpstr>SimSun</vt:lpstr>
      <vt:lpstr>Wingdings</vt:lpstr>
      <vt:lpstr>Wingdings 2</vt:lpstr>
      <vt:lpstr>Arial</vt:lpstr>
      <vt:lpstr>Arial Bold</vt:lpstr>
      <vt:lpstr>Calibri</vt:lpstr>
      <vt:lpstr>Calibri</vt:lpstr>
      <vt:lpstr>Calibri</vt:lpstr>
      <vt:lpstr>Calibri</vt:lpstr>
      <vt:lpstr>Calibri Light</vt:lpstr>
      <vt:lpstr>Microsoft YaHei</vt:lpstr>
      <vt:lpstr>Arial Unicode MS</vt:lpstr>
      <vt:lpstr>Franklin Gothic Demi</vt:lpstr>
      <vt:lpstr>Franklin Gothic Book</vt:lpstr>
      <vt:lpstr>Cascadia Code</vt:lpstr>
      <vt:lpstr>Cascadia Code</vt:lpstr>
      <vt:lpstr>DividendVTI</vt:lpstr>
      <vt:lpstr>AI-Powered Detection of Fraudulent Job Postings Using Machine Learning and Gemini AI</vt:lpstr>
      <vt:lpstr>OUTLINE</vt:lpstr>
      <vt:lpstr>Problem Statement</vt:lpstr>
      <vt:lpstr>Proposed Solution</vt:lpstr>
      <vt:lpstr>System  Approach</vt:lpstr>
      <vt:lpstr>Algorithm &amp; Deployment</vt:lpstr>
      <vt:lpstr>Result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Conclusion</vt:lpstr>
      <vt:lpstr>PowerPoint 演示文稿</vt:lpstr>
      <vt:lpstr>References</vt:lpstr>
      <vt:lpstr>Github link/DEPLOYMENT LINK</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PALAK KHANDELWAL</cp:lastModifiedBy>
  <cp:revision>42</cp:revision>
  <dcterms:created xsi:type="dcterms:W3CDTF">2021-05-26T16:50:00Z</dcterms:created>
  <dcterms:modified xsi:type="dcterms:W3CDTF">2026-06-10T19:10:53Z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KSOProductBuildVer">
    <vt:lpwstr>1033-12.1.0.26880</vt:lpwstr>
  </property>
  <property fmtid="{D5CDD505-2E9C-101B-9397-08002B2CF9AE}" pid="4" name="ICV">
    <vt:lpwstr>5A1D317335CA4C28B25290BC49FA1EF2_13</vt:lpwstr>
  </property>
</Properties>
</file>